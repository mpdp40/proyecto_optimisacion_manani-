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Lora" charset="1" panose="00000500000000000000"/>
      <p:regular r:id="rId26"/>
    </p:embeddedFont>
    <p:embeddedFont>
      <p:font typeface="Canva Sans" charset="1" panose="020B0503030501040103"/>
      <p:regular r:id="rId27"/>
    </p:embeddedFont>
    <p:embeddedFont>
      <p:font typeface="Lora Bold" charset="1" panose="00000800000000000000"/>
      <p:regular r:id="rId28"/>
    </p:embeddedFont>
    <p:embeddedFont>
      <p:font typeface="Canva Sans Bold" charset="1" panose="020B0803030501040103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png" Type="http://schemas.openxmlformats.org/officeDocument/2006/relationships/image"/><Relationship Id="rId11" Target="../media/image24.svg" Type="http://schemas.openxmlformats.org/officeDocument/2006/relationships/image"/><Relationship Id="rId12" Target="../media/image25.png" Type="http://schemas.openxmlformats.org/officeDocument/2006/relationships/image"/><Relationship Id="rId13" Target="../media/image26.svg" Type="http://schemas.openxmlformats.org/officeDocument/2006/relationships/image"/><Relationship Id="rId14" Target="../media/image27.png" Type="http://schemas.openxmlformats.org/officeDocument/2006/relationships/image"/><Relationship Id="rId15" Target="../media/image28.svg" Type="http://schemas.openxmlformats.org/officeDocument/2006/relationships/image"/><Relationship Id="rId2" Target="../media/image15.png" Type="http://schemas.openxmlformats.org/officeDocument/2006/relationships/image"/><Relationship Id="rId3" Target="../media/image16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Relationship Id="rId6" Target="../media/image19.png" Type="http://schemas.openxmlformats.org/officeDocument/2006/relationships/image"/><Relationship Id="rId7" Target="../media/image20.svg" Type="http://schemas.openxmlformats.org/officeDocument/2006/relationships/image"/><Relationship Id="rId8" Target="../media/image21.png" Type="http://schemas.openxmlformats.org/officeDocument/2006/relationships/image"/><Relationship Id="rId9" Target="../media/image2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3.png" Type="http://schemas.openxmlformats.org/officeDocument/2006/relationships/image"/><Relationship Id="rId7" Target="../media/image34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jpeg" Type="http://schemas.openxmlformats.org/officeDocument/2006/relationships/image"/><Relationship Id="rId4" Target="../media/image37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0.png" Type="http://schemas.openxmlformats.org/officeDocument/2006/relationships/image"/><Relationship Id="rId4" Target="../media/image38.png" Type="http://schemas.openxmlformats.org/officeDocument/2006/relationships/image"/><Relationship Id="rId5" Target="../media/image39.png" Type="http://schemas.openxmlformats.org/officeDocument/2006/relationships/image"/><Relationship Id="rId6" Target="../media/image40.png" Type="http://schemas.openxmlformats.org/officeDocument/2006/relationships/image"/><Relationship Id="rId7" Target="../media/image41.png" Type="http://schemas.openxmlformats.org/officeDocument/2006/relationships/image"/><Relationship Id="rId8" Target="../media/image42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4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5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4713417"/>
            <a:ext cx="7570831" cy="2335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5"/>
              </a:lnSpc>
            </a:pPr>
            <a:r>
              <a:rPr lang="en-US" sz="857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PROYECTO MANAMI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1047750"/>
            <a:ext cx="6922802" cy="285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DUOC UC VIÑA DELMAR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425889"/>
            <a:ext cx="6922802" cy="211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Por Matias Rosales y Nicolas Pimentel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-3798849">
            <a:off x="7662705" y="-1040490"/>
            <a:ext cx="7056960" cy="7364949"/>
          </a:xfrm>
          <a:custGeom>
            <a:avLst/>
            <a:gdLst/>
            <a:ahLst/>
            <a:cxnLst/>
            <a:rect r="r" b="b" t="t" l="l"/>
            <a:pathLst>
              <a:path h="7364949" w="7056960">
                <a:moveTo>
                  <a:pt x="7056960" y="0"/>
                </a:moveTo>
                <a:lnTo>
                  <a:pt x="0" y="0"/>
                </a:lnTo>
                <a:lnTo>
                  <a:pt x="0" y="7364949"/>
                </a:lnTo>
                <a:lnTo>
                  <a:pt x="7056960" y="7364949"/>
                </a:lnTo>
                <a:lnTo>
                  <a:pt x="705696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5171276">
            <a:off x="13686403" y="-3209535"/>
            <a:ext cx="7056960" cy="7364949"/>
          </a:xfrm>
          <a:custGeom>
            <a:avLst/>
            <a:gdLst/>
            <a:ahLst/>
            <a:cxnLst/>
            <a:rect r="r" b="b" t="t" l="l"/>
            <a:pathLst>
              <a:path h="7364949" w="7056960">
                <a:moveTo>
                  <a:pt x="0" y="7364949"/>
                </a:moveTo>
                <a:lnTo>
                  <a:pt x="7056960" y="7364949"/>
                </a:lnTo>
                <a:lnTo>
                  <a:pt x="7056960" y="0"/>
                </a:lnTo>
                <a:lnTo>
                  <a:pt x="0" y="0"/>
                </a:lnTo>
                <a:lnTo>
                  <a:pt x="0" y="736494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895734">
            <a:off x="12020766" y="4032237"/>
            <a:ext cx="7056960" cy="7364949"/>
          </a:xfrm>
          <a:custGeom>
            <a:avLst/>
            <a:gdLst/>
            <a:ahLst/>
            <a:cxnLst/>
            <a:rect r="r" b="b" t="t" l="l"/>
            <a:pathLst>
              <a:path h="7364949" w="7056960">
                <a:moveTo>
                  <a:pt x="0" y="0"/>
                </a:moveTo>
                <a:lnTo>
                  <a:pt x="7056960" y="0"/>
                </a:lnTo>
                <a:lnTo>
                  <a:pt x="7056960" y="7364948"/>
                </a:lnTo>
                <a:lnTo>
                  <a:pt x="0" y="73649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104900"/>
            <a:ext cx="7616517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6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CONTENIDOS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902364" y="2717054"/>
            <a:ext cx="4190869" cy="419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CONTEXTO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26369" y="2745629"/>
            <a:ext cx="765553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5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01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26369" y="5260229"/>
            <a:ext cx="765553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50"/>
              </a:lnSpc>
            </a:pPr>
            <a:r>
              <a:rPr lang="en-US" sz="5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04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26369" y="3583829"/>
            <a:ext cx="765553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5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02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26369" y="6098429"/>
            <a:ext cx="765553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50"/>
              </a:lnSpc>
            </a:pPr>
            <a:r>
              <a:rPr lang="en-US" sz="5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05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26369" y="4422029"/>
            <a:ext cx="765553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5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26369" y="6936629"/>
            <a:ext cx="765553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50"/>
              </a:lnSpc>
            </a:pPr>
            <a:r>
              <a:rPr lang="en-US" sz="5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06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31392" y="5231654"/>
            <a:ext cx="4190869" cy="419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50"/>
              </a:lnSpc>
            </a:pPr>
            <a:r>
              <a:rPr lang="en-US" sz="3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SOLUCION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902364" y="3479054"/>
            <a:ext cx="4190869" cy="419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PROBLEMA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931392" y="5993654"/>
            <a:ext cx="4190869" cy="419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50"/>
              </a:lnSpc>
            </a:pPr>
            <a:r>
              <a:rPr lang="en-US" sz="3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REQUERIMIENTOS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02364" y="4317254"/>
            <a:ext cx="4190869" cy="419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NECESIDAD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931392" y="6831854"/>
            <a:ext cx="4190869" cy="419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50"/>
              </a:lnSpc>
            </a:pPr>
            <a:r>
              <a:rPr lang="en-US" sz="3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EPICAS</a:t>
            </a:r>
          </a:p>
        </p:txBody>
      </p:sp>
      <p:sp>
        <p:nvSpPr>
          <p:cNvPr name="Freeform 15" id="15"/>
          <p:cNvSpPr/>
          <p:nvPr/>
        </p:nvSpPr>
        <p:spPr>
          <a:xfrm flipH="true" flipV="false" rot="0">
            <a:off x="13652995" y="2678954"/>
            <a:ext cx="3309550" cy="5730823"/>
          </a:xfrm>
          <a:custGeom>
            <a:avLst/>
            <a:gdLst/>
            <a:ahLst/>
            <a:cxnLst/>
            <a:rect r="r" b="b" t="t" l="l"/>
            <a:pathLst>
              <a:path h="5730823" w="3309550">
                <a:moveTo>
                  <a:pt x="3309550" y="0"/>
                </a:moveTo>
                <a:lnTo>
                  <a:pt x="0" y="0"/>
                </a:lnTo>
                <a:lnTo>
                  <a:pt x="0" y="5730822"/>
                </a:lnTo>
                <a:lnTo>
                  <a:pt x="3309550" y="5730822"/>
                </a:lnTo>
                <a:lnTo>
                  <a:pt x="330955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26369" y="7851029"/>
            <a:ext cx="765553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50"/>
              </a:lnSpc>
            </a:pPr>
            <a:r>
              <a:rPr lang="en-US" sz="5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07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26369" y="8689229"/>
            <a:ext cx="765553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50"/>
              </a:lnSpc>
            </a:pPr>
            <a:r>
              <a:rPr lang="en-US" sz="5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08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931392" y="7746254"/>
            <a:ext cx="4190869" cy="419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50"/>
              </a:lnSpc>
            </a:pPr>
            <a:r>
              <a:rPr lang="en-US" sz="3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ARQUITECTURAS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931392" y="8584454"/>
            <a:ext cx="4190869" cy="419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50"/>
              </a:lnSpc>
            </a:pPr>
            <a:r>
              <a:rPr lang="en-US" sz="3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METODOLOGIA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048565" y="3555287"/>
            <a:ext cx="4190869" cy="419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EVIDENCIAS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982756" y="3583829"/>
            <a:ext cx="765553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5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10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982756" y="6098429"/>
            <a:ext cx="765553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50"/>
              </a:lnSpc>
            </a:pPr>
            <a:r>
              <a:rPr lang="en-US" sz="5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13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982756" y="4422029"/>
            <a:ext cx="765553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5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11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982756" y="6936629"/>
            <a:ext cx="765553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50"/>
              </a:lnSpc>
            </a:pPr>
            <a:r>
              <a:rPr lang="en-US" sz="5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14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982756" y="5260229"/>
            <a:ext cx="765553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5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12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982756" y="7774829"/>
            <a:ext cx="765553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50"/>
              </a:lnSpc>
            </a:pPr>
            <a:r>
              <a:rPr lang="en-US" sz="5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15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087779" y="6069854"/>
            <a:ext cx="4885406" cy="419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50"/>
              </a:lnSpc>
            </a:pPr>
            <a:r>
              <a:rPr lang="en-US" sz="3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DEFINICION DE SPRINTS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058751" y="4317254"/>
            <a:ext cx="4885406" cy="419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EVIDENCIAS POR SPRINT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087779" y="6831854"/>
            <a:ext cx="4190869" cy="419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50"/>
              </a:lnSpc>
            </a:pPr>
            <a:r>
              <a:rPr lang="en-US" sz="3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CRONOGRAMA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058751" y="5155454"/>
            <a:ext cx="4557794" cy="419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HISTORIAL DE USUARIO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087779" y="7670054"/>
            <a:ext cx="6864179" cy="419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50"/>
              </a:lnSpc>
            </a:pPr>
            <a:r>
              <a:rPr lang="en-US" sz="3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CONCLUSIONES Y PROXIMOS PASOS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982756" y="8689229"/>
            <a:ext cx="765553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50"/>
              </a:lnSpc>
            </a:pPr>
            <a:r>
              <a:rPr lang="en-US" sz="5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16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087779" y="8584454"/>
            <a:ext cx="4190869" cy="419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50"/>
              </a:lnSpc>
            </a:pPr>
            <a:r>
              <a:rPr lang="en-US" sz="3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REFLEXION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048565" y="2717054"/>
            <a:ext cx="4190869" cy="4190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ROLES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982756" y="2745629"/>
            <a:ext cx="765553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5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09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63640" y="5365703"/>
            <a:ext cx="5926384" cy="4518868"/>
          </a:xfrm>
          <a:custGeom>
            <a:avLst/>
            <a:gdLst/>
            <a:ahLst/>
            <a:cxnLst/>
            <a:rect r="r" b="b" t="t" l="l"/>
            <a:pathLst>
              <a:path h="4518868" w="5926384">
                <a:moveTo>
                  <a:pt x="0" y="0"/>
                </a:moveTo>
                <a:lnTo>
                  <a:pt x="5926384" y="0"/>
                </a:lnTo>
                <a:lnTo>
                  <a:pt x="5926384" y="4518868"/>
                </a:lnTo>
                <a:lnTo>
                  <a:pt x="0" y="45188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47501" y="1482237"/>
            <a:ext cx="5005877" cy="5854826"/>
          </a:xfrm>
          <a:custGeom>
            <a:avLst/>
            <a:gdLst/>
            <a:ahLst/>
            <a:cxnLst/>
            <a:rect r="r" b="b" t="t" l="l"/>
            <a:pathLst>
              <a:path h="5854826" w="5005877">
                <a:moveTo>
                  <a:pt x="0" y="0"/>
                </a:moveTo>
                <a:lnTo>
                  <a:pt x="5005876" y="0"/>
                </a:lnTo>
                <a:lnTo>
                  <a:pt x="5005876" y="5854827"/>
                </a:lnTo>
                <a:lnTo>
                  <a:pt x="0" y="58548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253377" y="1095375"/>
            <a:ext cx="3550378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50"/>
              </a:lnSpc>
              <a:spcBef>
                <a:spcPct val="0"/>
              </a:spcBef>
            </a:pPr>
            <a:r>
              <a:rPr lang="en-US" sz="5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CONTEXTO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253377" y="2305959"/>
            <a:ext cx="6112189" cy="4455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La empres Fenix del rubro textil ubicada en Quilpue  se dedica a la confección y venta de uniformes. Su operación diaria depende de la adquisición constante de diversas telas e insumos a múltiples proveedores para mantener la producción activa y responder a la demanda de sus clientes.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264663" y="3015526"/>
            <a:ext cx="7616517" cy="838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6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PROBLEMA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264663" y="4314533"/>
            <a:ext cx="6922802" cy="4176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2"/>
              </a:lnSpc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Actualmente, la empresa presenta Fenix deficiencias en el control y la organización de sus materias primas. </a:t>
            </a:r>
          </a:p>
          <a:p>
            <a:pPr algn="l">
              <a:lnSpc>
                <a:spcPts val="3072"/>
              </a:lnSpc>
            </a:pPr>
          </a:p>
          <a:p>
            <a:pPr algn="l" marL="0" indent="0" lvl="0">
              <a:lnSpc>
                <a:spcPts val="3072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El registro manual  genera inconsistencias entre la tela disponible en almacén y el inventario registrado, lo que provoca compras de último momento a precios elevados, desabastecimiento inesperado en plena producción y acumulación de sobrantes de baja rotación.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406821" y="1755810"/>
            <a:ext cx="1846958" cy="6234457"/>
          </a:xfrm>
          <a:custGeom>
            <a:avLst/>
            <a:gdLst/>
            <a:ahLst/>
            <a:cxnLst/>
            <a:rect r="r" b="b" t="t" l="l"/>
            <a:pathLst>
              <a:path h="6234457" w="1846958">
                <a:moveTo>
                  <a:pt x="0" y="0"/>
                </a:moveTo>
                <a:lnTo>
                  <a:pt x="1846957" y="0"/>
                </a:lnTo>
                <a:lnTo>
                  <a:pt x="1846957" y="6234456"/>
                </a:lnTo>
                <a:lnTo>
                  <a:pt x="0" y="62344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561972" y="1755810"/>
            <a:ext cx="1397766" cy="4718196"/>
          </a:xfrm>
          <a:custGeom>
            <a:avLst/>
            <a:gdLst/>
            <a:ahLst/>
            <a:cxnLst/>
            <a:rect r="r" b="b" t="t" l="l"/>
            <a:pathLst>
              <a:path h="4718196" w="1397766">
                <a:moveTo>
                  <a:pt x="0" y="0"/>
                </a:moveTo>
                <a:lnTo>
                  <a:pt x="1397766" y="0"/>
                </a:lnTo>
                <a:lnTo>
                  <a:pt x="1397766" y="4718196"/>
                </a:lnTo>
                <a:lnTo>
                  <a:pt x="0" y="47181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787328" y="1617555"/>
            <a:ext cx="2283050" cy="7051891"/>
          </a:xfrm>
          <a:custGeom>
            <a:avLst/>
            <a:gdLst/>
            <a:ahLst/>
            <a:cxnLst/>
            <a:rect r="r" b="b" t="t" l="l"/>
            <a:pathLst>
              <a:path h="7051891" w="2283050">
                <a:moveTo>
                  <a:pt x="0" y="0"/>
                </a:moveTo>
                <a:lnTo>
                  <a:pt x="2283050" y="0"/>
                </a:lnTo>
                <a:lnTo>
                  <a:pt x="2283050" y="7051890"/>
                </a:lnTo>
                <a:lnTo>
                  <a:pt x="0" y="70518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78700" y="1845434"/>
            <a:ext cx="4964971" cy="838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NECESIDAD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1527685" y="4526507"/>
            <a:ext cx="4416848" cy="3742275"/>
          </a:xfrm>
          <a:custGeom>
            <a:avLst/>
            <a:gdLst/>
            <a:ahLst/>
            <a:cxnLst/>
            <a:rect r="r" b="b" t="t" l="l"/>
            <a:pathLst>
              <a:path h="3742275" w="4416848">
                <a:moveTo>
                  <a:pt x="4416848" y="0"/>
                </a:moveTo>
                <a:lnTo>
                  <a:pt x="0" y="0"/>
                </a:lnTo>
                <a:lnTo>
                  <a:pt x="0" y="3742275"/>
                </a:lnTo>
                <a:lnTo>
                  <a:pt x="4416848" y="3742275"/>
                </a:lnTo>
                <a:lnTo>
                  <a:pt x="441684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814341" y="3020506"/>
            <a:ext cx="10444959" cy="5890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0477" indent="-325239" lvl="1">
              <a:lnSpc>
                <a:spcPts val="3163"/>
              </a:lnSpc>
              <a:buFont typeface="Arial"/>
              <a:buChar char="•"/>
            </a:pPr>
            <a:r>
              <a:rPr lang="en-US" sz="3012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Centralizar y actualizar en tiempo real el stock de telas y/o materiales de costuleria</a:t>
            </a:r>
          </a:p>
          <a:p>
            <a:pPr algn="l">
              <a:lnSpc>
                <a:spcPts val="3163"/>
              </a:lnSpc>
            </a:pPr>
          </a:p>
          <a:p>
            <a:pPr algn="l" marL="650477" indent="-325239" lvl="1">
              <a:lnSpc>
                <a:spcPts val="3163"/>
              </a:lnSpc>
              <a:buFont typeface="Arial"/>
              <a:buChar char="•"/>
            </a:pPr>
            <a:r>
              <a:rPr lang="en-US" sz="3012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Centralizar y actualizar en tiempo real el procesamiento de pedidos</a:t>
            </a:r>
          </a:p>
          <a:p>
            <a:pPr algn="l">
              <a:lnSpc>
                <a:spcPts val="3163"/>
              </a:lnSpc>
            </a:pPr>
          </a:p>
          <a:p>
            <a:pPr algn="l" marL="650477" indent="-325239" lvl="1">
              <a:lnSpc>
                <a:spcPts val="3163"/>
              </a:lnSpc>
              <a:buFont typeface="Arial"/>
              <a:buChar char="•"/>
            </a:pPr>
            <a:r>
              <a:rPr lang="en-US" sz="3012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Anticipar la escasez de materia prima antes de que afecte la realizacion de pedidos via notificacion</a:t>
            </a:r>
          </a:p>
          <a:p>
            <a:pPr algn="l">
              <a:lnSpc>
                <a:spcPts val="3163"/>
              </a:lnSpc>
            </a:pPr>
          </a:p>
          <a:p>
            <a:pPr algn="l" marL="650477" indent="-325239" lvl="1">
              <a:lnSpc>
                <a:spcPts val="3163"/>
              </a:lnSpc>
              <a:buFont typeface="Arial"/>
              <a:buChar char="•"/>
            </a:pPr>
            <a:r>
              <a:rPr lang="en-US" sz="3012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Optimizar los costos de adquisición mediante el análisis de precios entre diferentes proveedores de telas y inzumos</a:t>
            </a:r>
          </a:p>
          <a:p>
            <a:pPr algn="l" marL="650477" indent="-325239" lvl="1">
              <a:lnSpc>
                <a:spcPts val="3163"/>
              </a:lnSpc>
              <a:buFont typeface="Arial"/>
              <a:buChar char="•"/>
            </a:pPr>
            <a:r>
              <a:rPr lang="en-US" sz="3012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Mostrar de manera entendible rendimiento financiero ultimo mes </a:t>
            </a:r>
          </a:p>
          <a:p>
            <a:pPr algn="l">
              <a:lnSpc>
                <a:spcPts val="3163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762971"/>
            <a:ext cx="7570831" cy="1192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05"/>
              </a:lnSpc>
            </a:pPr>
            <a:r>
              <a:rPr lang="en-US" sz="857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Solucíon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11892526" y="338812"/>
            <a:ext cx="10613271" cy="11084356"/>
          </a:xfrm>
          <a:custGeom>
            <a:avLst/>
            <a:gdLst/>
            <a:ahLst/>
            <a:cxnLst/>
            <a:rect r="r" b="b" t="t" l="l"/>
            <a:pathLst>
              <a:path h="11084356" w="10613271">
                <a:moveTo>
                  <a:pt x="10613271" y="0"/>
                </a:moveTo>
                <a:lnTo>
                  <a:pt x="0" y="0"/>
                </a:lnTo>
                <a:lnTo>
                  <a:pt x="0" y="11084355"/>
                </a:lnTo>
                <a:lnTo>
                  <a:pt x="10613271" y="11084355"/>
                </a:lnTo>
                <a:lnTo>
                  <a:pt x="10613271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599531" y="2700378"/>
            <a:ext cx="3292995" cy="11115594"/>
          </a:xfrm>
          <a:custGeom>
            <a:avLst/>
            <a:gdLst/>
            <a:ahLst/>
            <a:cxnLst/>
            <a:rect r="r" b="b" t="t" l="l"/>
            <a:pathLst>
              <a:path h="11115594" w="3292995">
                <a:moveTo>
                  <a:pt x="0" y="0"/>
                </a:moveTo>
                <a:lnTo>
                  <a:pt x="3292995" y="0"/>
                </a:lnTo>
                <a:lnTo>
                  <a:pt x="3292995" y="11115594"/>
                </a:lnTo>
                <a:lnTo>
                  <a:pt x="0" y="111155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73964" y="2078989"/>
            <a:ext cx="7597346" cy="452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7"/>
              </a:lnSpc>
              <a:spcBef>
                <a:spcPct val="0"/>
              </a:spcBef>
            </a:pPr>
            <a:r>
              <a:rPr lang="en-US" sz="3273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Desarrollo de aplicación móvil Manami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73964" y="3664741"/>
            <a:ext cx="8362936" cy="4308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4"/>
              </a:lnSpc>
            </a:pPr>
          </a:p>
          <a:p>
            <a:pPr algn="l" marL="541655" indent="-270827" lvl="1">
              <a:lnSpc>
                <a:spcPts val="2634"/>
              </a:lnSpc>
              <a:buFont typeface="Arial"/>
              <a:buChar char="•"/>
            </a:pPr>
            <a:r>
              <a:rPr lang="en-US" sz="2508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Organizador </a:t>
            </a:r>
            <a:r>
              <a:rPr lang="en-US" sz="2508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del stock de telas e insumos de costuraría y procesamiento de pedidos</a:t>
            </a:r>
          </a:p>
          <a:p>
            <a:pPr algn="l">
              <a:lnSpc>
                <a:spcPts val="2634"/>
              </a:lnSpc>
            </a:pPr>
          </a:p>
          <a:p>
            <a:pPr algn="l" marL="541655" indent="-270827" lvl="1">
              <a:lnSpc>
                <a:spcPts val="2634"/>
              </a:lnSpc>
              <a:buFont typeface="Arial"/>
              <a:buChar char="•"/>
            </a:pPr>
            <a:r>
              <a:rPr lang="en-US" sz="2508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Reducción de los costos, comparando precios de proveedores de telas de forma automatizada</a:t>
            </a:r>
          </a:p>
          <a:p>
            <a:pPr algn="l">
              <a:lnSpc>
                <a:spcPts val="2634"/>
              </a:lnSpc>
            </a:pPr>
          </a:p>
          <a:p>
            <a:pPr algn="l" marL="541655" indent="-270827" lvl="1">
              <a:lnSpc>
                <a:spcPts val="2634"/>
              </a:lnSpc>
              <a:buFont typeface="Arial"/>
              <a:buChar char="•"/>
            </a:pPr>
            <a:r>
              <a:rPr lang="en-US" sz="2508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Anticipación a la falta de materia prima antes de que afecte los compromisos de entrega</a:t>
            </a:r>
          </a:p>
          <a:p>
            <a:pPr algn="l">
              <a:lnSpc>
                <a:spcPts val="2634"/>
              </a:lnSpc>
            </a:pPr>
          </a:p>
          <a:p>
            <a:pPr algn="l" marL="541655" indent="-270827" lvl="1">
              <a:lnSpc>
                <a:spcPts val="2634"/>
              </a:lnSpc>
              <a:buFont typeface="Arial"/>
              <a:buChar char="•"/>
            </a:pPr>
            <a:r>
              <a:rPr lang="en-US" sz="2508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Visibilidad clara y accesible sobre el desempeño operativo y monetario del último mes</a:t>
            </a:r>
          </a:p>
          <a:p>
            <a:pPr algn="l">
              <a:lnSpc>
                <a:spcPts val="2634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6764" y="2187527"/>
            <a:ext cx="2198956" cy="7422637"/>
          </a:xfrm>
          <a:custGeom>
            <a:avLst/>
            <a:gdLst/>
            <a:ahLst/>
            <a:cxnLst/>
            <a:rect r="r" b="b" t="t" l="l"/>
            <a:pathLst>
              <a:path h="7422637" w="2198956">
                <a:moveTo>
                  <a:pt x="0" y="0"/>
                </a:moveTo>
                <a:lnTo>
                  <a:pt x="2198957" y="0"/>
                </a:lnTo>
                <a:lnTo>
                  <a:pt x="2198957" y="7422636"/>
                </a:lnTo>
                <a:lnTo>
                  <a:pt x="0" y="74226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3024705" y="1639920"/>
          <a:ext cx="13758461" cy="6792288"/>
        </p:xfrm>
        <a:graphic>
          <a:graphicData uri="http://schemas.openxmlformats.org/drawingml/2006/table">
            <a:tbl>
              <a:tblPr/>
              <a:tblGrid>
                <a:gridCol w="650096"/>
                <a:gridCol w="3106311"/>
                <a:gridCol w="10002054"/>
              </a:tblGrid>
              <a:tr h="8055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4"/>
                        </a:lnSpc>
                        <a:defRPr/>
                      </a:pPr>
                      <a:r>
                        <a:rPr lang="en-US" sz="1574" b="true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847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4"/>
                        </a:lnSpc>
                        <a:defRPr/>
                      </a:pPr>
                      <a:r>
                        <a:rPr lang="en-US" sz="1574" b="true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Nombre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847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4"/>
                        </a:lnSpc>
                        <a:defRPr/>
                      </a:pPr>
                      <a:r>
                        <a:rPr lang="en-US" sz="1574" b="true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Descripcion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98474"/>
                    </a:solidFill>
                  </a:tcPr>
                </a:tc>
              </a:tr>
              <a:tr h="76629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4"/>
                        </a:lnSpc>
                        <a:defRPr/>
                      </a:pPr>
                      <a:r>
                        <a:rPr lang="en-US" sz="1574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4"/>
                        </a:lnSpc>
                        <a:defRPr/>
                      </a:pPr>
                      <a:r>
                        <a:rPr lang="en-US" sz="1574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CRUD PEDIDOS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4"/>
                        </a:lnSpc>
                        <a:defRPr/>
                      </a:pPr>
                      <a:r>
                        <a:rPr lang="en-US" sz="1574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 El sistema debe Crear, leer, actualizar y eliminiar pedidos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40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4"/>
                        </a:lnSpc>
                        <a:defRPr/>
                      </a:pPr>
                      <a:r>
                        <a:rPr lang="en-US" sz="1574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4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4"/>
                        </a:lnSpc>
                        <a:defRPr/>
                      </a:pPr>
                      <a:r>
                        <a:rPr lang="en-US" sz="1574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Chat Bot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4"/>
                        </a:lnSpc>
                        <a:defRPr/>
                      </a:pPr>
                      <a:r>
                        <a:rPr lang="en-US" sz="1574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El sistema debe contar con un chatbot capaz de responder consultas de usuarios sobre precios de materiales y el estado actual de los pedidos.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40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4"/>
                        </a:lnSpc>
                        <a:defRPr/>
                      </a:pPr>
                      <a:r>
                        <a:rPr lang="en-US" sz="1574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7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4"/>
                        </a:lnSpc>
                        <a:defRPr/>
                      </a:pPr>
                      <a:r>
                        <a:rPr lang="en-US" sz="1574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CRUD Inventarios</a:t>
                      </a:r>
                      <a:endParaRPr lang="en-US" sz="1100"/>
                    </a:p>
                    <a:p>
                      <a:pPr algn="ctr">
                        <a:lnSpc>
                          <a:spcPts val="2204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4"/>
                        </a:lnSpc>
                        <a:defRPr/>
                      </a:pPr>
                      <a:r>
                        <a:rPr lang="en-US" sz="1574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El sistema debe Crear, leer, actualizar y eliminiar Materiales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40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4"/>
                        </a:lnSpc>
                        <a:defRPr/>
                      </a:pPr>
                      <a:r>
                        <a:rPr lang="en-US" sz="1574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4"/>
                        </a:lnSpc>
                        <a:defRPr/>
                      </a:pPr>
                      <a:r>
                        <a:rPr lang="en-US" sz="1574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Dashboard rendimiento mensual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4"/>
                        </a:lnSpc>
                        <a:defRPr/>
                      </a:pPr>
                      <a:r>
                        <a:rPr lang="en-US" sz="1574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El sistema debe calcular y graficar el rendimiento mensual, restando el costo total de los materiales consumidos a las ganancias netas de los pedidos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40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4"/>
                        </a:lnSpc>
                        <a:defRPr/>
                      </a:pPr>
                      <a:r>
                        <a:rPr lang="en-US" sz="1574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12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4"/>
                        </a:lnSpc>
                        <a:defRPr/>
                      </a:pPr>
                      <a:r>
                        <a:rPr lang="en-US" sz="1574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Predicciones materiales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4"/>
                        </a:lnSpc>
                        <a:defRPr/>
                      </a:pPr>
                      <a:r>
                        <a:rPr lang="en-US" sz="1574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El sitema debe predecir en base a registros y cantidad actual de materiales usando machine learning, materiales que deben comprarse para que no haya falta de materiales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4408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4"/>
                        </a:lnSpc>
                        <a:defRPr/>
                      </a:pPr>
                      <a:r>
                        <a:rPr lang="en-US" sz="1574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18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4"/>
                        </a:lnSpc>
                        <a:defRPr/>
                      </a:pPr>
                      <a:r>
                        <a:rPr lang="en-US" sz="1574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Vista de Pedidos Próximos a Vencer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04"/>
                        </a:lnSpc>
                        <a:defRPr/>
                      </a:pPr>
                      <a:r>
                        <a:rPr lang="en-US" sz="1574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Al ingresar a la sección de Pedidos, el sistema debe desplegar de forma prioritaria en la parte superior los tres pedidos con la fecha de vencimiento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2B32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1998568" y="405455"/>
            <a:ext cx="12679015" cy="838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REQUERIMIENTOS FUNCIONALES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6310" y="1979812"/>
            <a:ext cx="2403079" cy="7422637"/>
          </a:xfrm>
          <a:custGeom>
            <a:avLst/>
            <a:gdLst/>
            <a:ahLst/>
            <a:cxnLst/>
            <a:rect r="r" b="b" t="t" l="l"/>
            <a:pathLst>
              <a:path h="7422637" w="2403079">
                <a:moveTo>
                  <a:pt x="0" y="0"/>
                </a:moveTo>
                <a:lnTo>
                  <a:pt x="2403078" y="0"/>
                </a:lnTo>
                <a:lnTo>
                  <a:pt x="2403078" y="7422637"/>
                </a:lnTo>
                <a:lnTo>
                  <a:pt x="0" y="74226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3027130" y="1842815"/>
          <a:ext cx="14985677" cy="7511433"/>
        </p:xfrm>
        <a:graphic>
          <a:graphicData uri="http://schemas.openxmlformats.org/drawingml/2006/table">
            <a:tbl>
              <a:tblPr/>
              <a:tblGrid>
                <a:gridCol w="682773"/>
                <a:gridCol w="3103716"/>
                <a:gridCol w="8671813"/>
                <a:gridCol w="2527374"/>
              </a:tblGrid>
              <a:tr h="112208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ID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Nombre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Descripcion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Lora Bold"/>
                          <a:ea typeface="Lora Bold"/>
                          <a:cs typeface="Lora Bold"/>
                          <a:sym typeface="Lora Bold"/>
                        </a:rPr>
                        <a:t>Atributo calidad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</a:tr>
              <a:tr h="11296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Estados de pedidos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los estados de los materiales deben ser rojo para pedido no completado gris para pedido no empezado y verde para pedido completado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Usabilidad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96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Encriptado de datos delicados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Cifrado de datos sensibles tanto en reposo (BD) como en tránsito (HTTPS)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Seguridad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96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Guía de Estilo local Manami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Diseño responsivo e interfaz construida en base a la Guía de Estilo local manami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Usabilidad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96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Seguridad de inicio de sección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El sistema de contar con un auntetifacador para permitir el acceso al sistema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Seguridad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706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9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Disponibilidad del Servicio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El sistema debe tener una disponibilidad del 99.5% durante el horario laboral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Accesibilidad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2155822" y="326828"/>
            <a:ext cx="14330176" cy="838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REQUERIMIENTOS NO FUNCIONALES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061923" y="1026620"/>
            <a:ext cx="3506197" cy="3887807"/>
          </a:xfrm>
          <a:custGeom>
            <a:avLst/>
            <a:gdLst/>
            <a:ahLst/>
            <a:cxnLst/>
            <a:rect r="r" b="b" t="t" l="l"/>
            <a:pathLst>
              <a:path h="3887807" w="3506197">
                <a:moveTo>
                  <a:pt x="0" y="0"/>
                </a:moveTo>
                <a:lnTo>
                  <a:pt x="3506197" y="0"/>
                </a:lnTo>
                <a:lnTo>
                  <a:pt x="3506197" y="3887807"/>
                </a:lnTo>
                <a:lnTo>
                  <a:pt x="0" y="38878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684588" y="4958310"/>
            <a:ext cx="1214958" cy="1214958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B75E6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222250"/>
              <a:ext cx="7112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381276" y="4958310"/>
            <a:ext cx="1214958" cy="1214958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B75E6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222250"/>
              <a:ext cx="7112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0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360299" y="4958310"/>
            <a:ext cx="1214958" cy="1214958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B75E6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222250"/>
              <a:ext cx="7112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0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858370" y="4958310"/>
            <a:ext cx="1214958" cy="1214958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B75E6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222250"/>
              <a:ext cx="7112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0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556217" y="4958310"/>
            <a:ext cx="1214958" cy="1214958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B75E6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222250"/>
              <a:ext cx="7112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0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5465114" y="4958310"/>
            <a:ext cx="1214958" cy="1214958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B75E66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222250"/>
              <a:ext cx="7112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2100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684588" y="6078553"/>
            <a:ext cx="1836689" cy="1570369"/>
          </a:xfrm>
          <a:custGeom>
            <a:avLst/>
            <a:gdLst/>
            <a:ahLst/>
            <a:cxnLst/>
            <a:rect r="r" b="b" t="t" l="l"/>
            <a:pathLst>
              <a:path h="1570369" w="1836689">
                <a:moveTo>
                  <a:pt x="0" y="0"/>
                </a:moveTo>
                <a:lnTo>
                  <a:pt x="1836689" y="0"/>
                </a:lnTo>
                <a:lnTo>
                  <a:pt x="1836689" y="1570369"/>
                </a:lnTo>
                <a:lnTo>
                  <a:pt x="0" y="15703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4572957" y="6078553"/>
            <a:ext cx="1733979" cy="1844658"/>
          </a:xfrm>
          <a:custGeom>
            <a:avLst/>
            <a:gdLst/>
            <a:ahLst/>
            <a:cxnLst/>
            <a:rect r="r" b="b" t="t" l="l"/>
            <a:pathLst>
              <a:path h="1844658" w="1733979">
                <a:moveTo>
                  <a:pt x="0" y="0"/>
                </a:moveTo>
                <a:lnTo>
                  <a:pt x="1733979" y="0"/>
                </a:lnTo>
                <a:lnTo>
                  <a:pt x="1733979" y="1844658"/>
                </a:lnTo>
                <a:lnTo>
                  <a:pt x="0" y="18446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7207897" y="5880001"/>
            <a:ext cx="2335168" cy="2241761"/>
          </a:xfrm>
          <a:custGeom>
            <a:avLst/>
            <a:gdLst/>
            <a:ahLst/>
            <a:cxnLst/>
            <a:rect r="r" b="b" t="t" l="l"/>
            <a:pathLst>
              <a:path h="2241761" w="2335168">
                <a:moveTo>
                  <a:pt x="0" y="0"/>
                </a:moveTo>
                <a:lnTo>
                  <a:pt x="2335168" y="0"/>
                </a:lnTo>
                <a:lnTo>
                  <a:pt x="2335168" y="2241762"/>
                </a:lnTo>
                <a:lnTo>
                  <a:pt x="0" y="224176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9651748" y="5979277"/>
            <a:ext cx="1768920" cy="1768920"/>
          </a:xfrm>
          <a:custGeom>
            <a:avLst/>
            <a:gdLst/>
            <a:ahLst/>
            <a:cxnLst/>
            <a:rect r="r" b="b" t="t" l="l"/>
            <a:pathLst>
              <a:path h="1768920" w="1768920">
                <a:moveTo>
                  <a:pt x="0" y="0"/>
                </a:moveTo>
                <a:lnTo>
                  <a:pt x="1768920" y="0"/>
                </a:lnTo>
                <a:lnTo>
                  <a:pt x="1768920" y="1768920"/>
                </a:lnTo>
                <a:lnTo>
                  <a:pt x="0" y="17689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-1002341">
            <a:off x="10291239" y="6575228"/>
            <a:ext cx="1860184" cy="1860184"/>
          </a:xfrm>
          <a:custGeom>
            <a:avLst/>
            <a:gdLst/>
            <a:ahLst/>
            <a:cxnLst/>
            <a:rect r="r" b="b" t="t" l="l"/>
            <a:pathLst>
              <a:path h="1860184" w="1860184">
                <a:moveTo>
                  <a:pt x="0" y="0"/>
                </a:moveTo>
                <a:lnTo>
                  <a:pt x="1860184" y="0"/>
                </a:lnTo>
                <a:lnTo>
                  <a:pt x="1860184" y="1860184"/>
                </a:lnTo>
                <a:lnTo>
                  <a:pt x="0" y="186018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2216798" y="6366057"/>
            <a:ext cx="1893796" cy="1818044"/>
          </a:xfrm>
          <a:custGeom>
            <a:avLst/>
            <a:gdLst/>
            <a:ahLst/>
            <a:cxnLst/>
            <a:rect r="r" b="b" t="t" l="l"/>
            <a:pathLst>
              <a:path h="1818044" w="1893796">
                <a:moveTo>
                  <a:pt x="0" y="0"/>
                </a:moveTo>
                <a:lnTo>
                  <a:pt x="1893795" y="0"/>
                </a:lnTo>
                <a:lnTo>
                  <a:pt x="1893795" y="1818044"/>
                </a:lnTo>
                <a:lnTo>
                  <a:pt x="0" y="181804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5015585" y="6078553"/>
            <a:ext cx="2365896" cy="2141136"/>
          </a:xfrm>
          <a:custGeom>
            <a:avLst/>
            <a:gdLst/>
            <a:ahLst/>
            <a:cxnLst/>
            <a:rect r="r" b="b" t="t" l="l"/>
            <a:pathLst>
              <a:path h="2141136" w="2365896">
                <a:moveTo>
                  <a:pt x="0" y="0"/>
                </a:moveTo>
                <a:lnTo>
                  <a:pt x="2365896" y="0"/>
                </a:lnTo>
                <a:lnTo>
                  <a:pt x="2365896" y="2141135"/>
                </a:lnTo>
                <a:lnTo>
                  <a:pt x="0" y="214113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3893692" y="4293872"/>
            <a:ext cx="2668798" cy="240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63"/>
              </a:lnSpc>
              <a:spcBef>
                <a:spcPct val="0"/>
              </a:spcBef>
            </a:pPr>
            <a:r>
              <a:rPr lang="en-US" sz="1774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Usuario INICIA SESIÓN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661953" y="4293872"/>
            <a:ext cx="1834963" cy="240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63"/>
              </a:lnSpc>
              <a:spcBef>
                <a:spcPct val="0"/>
              </a:spcBef>
            </a:pPr>
            <a:r>
              <a:rPr lang="en-US" sz="1774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Compara precios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041382" y="4310773"/>
            <a:ext cx="2657172" cy="475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63"/>
              </a:lnSpc>
              <a:spcBef>
                <a:spcPct val="0"/>
              </a:spcBef>
            </a:pPr>
            <a:r>
              <a:rPr lang="en-US" sz="1774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Compra material no uso de la aplicacion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21929" y="4293813"/>
            <a:ext cx="2854820" cy="475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63"/>
              </a:lnSpc>
              <a:spcBef>
                <a:spcPct val="0"/>
              </a:spcBef>
            </a:pPr>
            <a:r>
              <a:rPr lang="en-US" sz="1774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Notificacion falta material inventario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099213" y="4293872"/>
            <a:ext cx="2552534" cy="240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63"/>
              </a:lnSpc>
              <a:spcBef>
                <a:spcPct val="0"/>
              </a:spcBef>
            </a:pPr>
            <a:r>
              <a:rPr lang="en-US" sz="1774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Abre chat bot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10761" y="2589557"/>
            <a:ext cx="7616517" cy="838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6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EPICAS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5015585" y="4310773"/>
            <a:ext cx="2552534" cy="4757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63"/>
              </a:lnSpc>
              <a:spcBef>
                <a:spcPct val="0"/>
              </a:spcBef>
            </a:pPr>
            <a:r>
              <a:rPr lang="en-US" sz="1774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Agrega material en inventario</a:t>
            </a:r>
          </a:p>
        </p:txBody>
      </p:sp>
      <p:sp>
        <p:nvSpPr>
          <p:cNvPr name="TextBox 35" id="35"/>
          <p:cNvSpPr txBox="true"/>
          <p:nvPr/>
        </p:nvSpPr>
        <p:spPr>
          <a:xfrm rot="2700000">
            <a:off x="10311626" y="6637562"/>
            <a:ext cx="296736" cy="623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7"/>
              </a:lnSpc>
              <a:spcBef>
                <a:spcPct val="0"/>
              </a:spcBef>
            </a:pPr>
            <a:r>
              <a:rPr lang="en-US" sz="4531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+</a:t>
            </a:r>
          </a:p>
        </p:txBody>
      </p:sp>
      <p:sp>
        <p:nvSpPr>
          <p:cNvPr name="TextBox 36" id="36"/>
          <p:cNvSpPr txBox="true"/>
          <p:nvPr/>
        </p:nvSpPr>
        <p:spPr>
          <a:xfrm rot="1633223">
            <a:off x="10964830" y="7336512"/>
            <a:ext cx="340459" cy="7488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49"/>
              </a:lnSpc>
              <a:spcBef>
                <a:spcPct val="0"/>
              </a:spcBef>
            </a:pPr>
            <a:r>
              <a:rPr lang="en-US" sz="5475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-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29190" y="2402062"/>
            <a:ext cx="17029619" cy="6950213"/>
          </a:xfrm>
          <a:custGeom>
            <a:avLst/>
            <a:gdLst/>
            <a:ahLst/>
            <a:cxnLst/>
            <a:rect r="r" b="b" t="t" l="l"/>
            <a:pathLst>
              <a:path h="6950213" w="17029619">
                <a:moveTo>
                  <a:pt x="0" y="0"/>
                </a:moveTo>
                <a:lnTo>
                  <a:pt x="17029620" y="0"/>
                </a:lnTo>
                <a:lnTo>
                  <a:pt x="17029620" y="6950213"/>
                </a:lnTo>
                <a:lnTo>
                  <a:pt x="0" y="69502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27279" y="637394"/>
            <a:ext cx="8833442" cy="1192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5"/>
              </a:lnSpc>
              <a:spcBef>
                <a:spcPct val="0"/>
              </a:spcBef>
            </a:pPr>
            <a:r>
              <a:rPr lang="en-US" sz="8576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ARQUITECTURA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-5799170">
            <a:off x="-2216744" y="-778964"/>
            <a:ext cx="7056960" cy="7364949"/>
          </a:xfrm>
          <a:custGeom>
            <a:avLst/>
            <a:gdLst/>
            <a:ahLst/>
            <a:cxnLst/>
            <a:rect r="r" b="b" t="t" l="l"/>
            <a:pathLst>
              <a:path h="7364949" w="7056960">
                <a:moveTo>
                  <a:pt x="7056960" y="0"/>
                </a:moveTo>
                <a:lnTo>
                  <a:pt x="0" y="0"/>
                </a:lnTo>
                <a:lnTo>
                  <a:pt x="0" y="7364949"/>
                </a:lnTo>
                <a:lnTo>
                  <a:pt x="7056960" y="7364949"/>
                </a:lnTo>
                <a:lnTo>
                  <a:pt x="705696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896055">
            <a:off x="1849719" y="-1932035"/>
            <a:ext cx="7056960" cy="7364949"/>
          </a:xfrm>
          <a:custGeom>
            <a:avLst/>
            <a:gdLst/>
            <a:ahLst/>
            <a:cxnLst/>
            <a:rect r="r" b="b" t="t" l="l"/>
            <a:pathLst>
              <a:path h="7364949" w="7056960">
                <a:moveTo>
                  <a:pt x="0" y="0"/>
                </a:moveTo>
                <a:lnTo>
                  <a:pt x="7056960" y="0"/>
                </a:lnTo>
                <a:lnTo>
                  <a:pt x="7056960" y="7364948"/>
                </a:lnTo>
                <a:lnTo>
                  <a:pt x="0" y="73649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70058" y="1931815"/>
            <a:ext cx="4356949" cy="4329718"/>
          </a:xfrm>
          <a:custGeom>
            <a:avLst/>
            <a:gdLst/>
            <a:ahLst/>
            <a:cxnLst/>
            <a:rect r="r" b="b" t="t" l="l"/>
            <a:pathLst>
              <a:path h="4329718" w="4356949">
                <a:moveTo>
                  <a:pt x="0" y="0"/>
                </a:moveTo>
                <a:lnTo>
                  <a:pt x="4356949" y="0"/>
                </a:lnTo>
                <a:lnTo>
                  <a:pt x="4356949" y="4329718"/>
                </a:lnTo>
                <a:lnTo>
                  <a:pt x="0" y="43297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8220365" y="1566430"/>
            <a:ext cx="3434521" cy="3086100"/>
            <a:chOff x="0" y="0"/>
            <a:chExt cx="904565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04565" cy="812800"/>
            </a:xfrm>
            <a:custGeom>
              <a:avLst/>
              <a:gdLst/>
              <a:ahLst/>
              <a:cxnLst/>
              <a:rect r="r" b="b" t="t" l="l"/>
              <a:pathLst>
                <a:path h="812800" w="904565">
                  <a:moveTo>
                    <a:pt x="0" y="0"/>
                  </a:moveTo>
                  <a:lnTo>
                    <a:pt x="904565" y="0"/>
                  </a:lnTo>
                  <a:lnTo>
                    <a:pt x="90456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6A96DE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28575"/>
              <a:ext cx="904565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95"/>
                </a:lnSpc>
              </a:pPr>
              <a:r>
                <a:rPr lang="en-US" sz="1900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COMO USUARIO DE MANAMI </a:t>
              </a:r>
              <a:r>
                <a:rPr lang="en-US" sz="1900" b="tru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quiero </a:t>
              </a:r>
              <a:r>
                <a:rPr lang="en-US" sz="1900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iniciar sesión en la aplicación</a:t>
              </a:r>
            </a:p>
            <a:p>
              <a:pPr algn="ctr">
                <a:lnSpc>
                  <a:spcPts val="1995"/>
                </a:lnSpc>
              </a:pPr>
              <a:r>
                <a:rPr lang="en-US" b="true" sz="1900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para</a:t>
              </a:r>
              <a:r>
                <a:rPr lang="en-US" sz="1900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 acceder de forma segura a las funcionalidades del sistema.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401420" y="1566430"/>
            <a:ext cx="4150720" cy="3086100"/>
            <a:chOff x="0" y="0"/>
            <a:chExt cx="1093194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3194" cy="812800"/>
            </a:xfrm>
            <a:custGeom>
              <a:avLst/>
              <a:gdLst/>
              <a:ahLst/>
              <a:cxnLst/>
              <a:rect r="r" b="b" t="t" l="l"/>
              <a:pathLst>
                <a:path h="812800" w="1093194">
                  <a:moveTo>
                    <a:pt x="0" y="0"/>
                  </a:moveTo>
                  <a:lnTo>
                    <a:pt x="1093194" y="0"/>
                  </a:lnTo>
                  <a:lnTo>
                    <a:pt x="109319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4C1B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28575"/>
              <a:ext cx="1093194" cy="784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95"/>
                </a:lnSpc>
              </a:pPr>
              <a:r>
                <a:rPr lang="en-US" sz="1900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COMO ENCARGADO DE LA EMPRESA </a:t>
              </a:r>
              <a:r>
                <a:rPr lang="en-US" b="true" sz="1900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quiero </a:t>
              </a:r>
              <a:r>
                <a:rPr lang="en-US" sz="1900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agregar, modificar y consultar materiales en el inventario </a:t>
              </a:r>
              <a:r>
                <a:rPr lang="en-US" b="true" sz="1900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para </a:t>
              </a:r>
              <a:r>
                <a:rPr lang="en-US" sz="1900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mantener actualizado el stock de telas e insumos.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220365" y="5935737"/>
            <a:ext cx="3434521" cy="3086100"/>
            <a:chOff x="0" y="0"/>
            <a:chExt cx="904565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04565" cy="812800"/>
            </a:xfrm>
            <a:custGeom>
              <a:avLst/>
              <a:gdLst/>
              <a:ahLst/>
              <a:cxnLst/>
              <a:rect r="r" b="b" t="t" l="l"/>
              <a:pathLst>
                <a:path h="812800" w="904565">
                  <a:moveTo>
                    <a:pt x="0" y="0"/>
                  </a:moveTo>
                  <a:lnTo>
                    <a:pt x="904565" y="0"/>
                  </a:lnTo>
                  <a:lnTo>
                    <a:pt x="90456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2B5C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19050"/>
              <a:ext cx="904565" cy="793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2000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COMO ENCARGADO DE PRODUCCIÓN </a:t>
              </a:r>
              <a:r>
                <a:rPr lang="en-US" sz="2000" b="tru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quiero </a:t>
              </a:r>
              <a:r>
                <a:rPr lang="en-US" sz="2000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recibir una notificación cuando un material tenga un nivel de stock bajo</a:t>
              </a:r>
            </a:p>
            <a:p>
              <a:pPr algn="ctr">
                <a:lnSpc>
                  <a:spcPts val="21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para</a:t>
              </a:r>
              <a:r>
                <a:rPr lang="en-US" sz="2000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 anticiparme a una posible falta de materia prima.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028700" y="6493228"/>
            <a:ext cx="6388875" cy="163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HISTORIAS DE USUARIOS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220365" y="897017"/>
            <a:ext cx="30861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INICIO DE SESIÓN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667575" y="897017"/>
            <a:ext cx="361841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GESTIÓN DE INVENTARIO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862266" y="5286088"/>
            <a:ext cx="4150720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NOTIFICACIÓN DE FALTA DE MATERIAL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2401420" y="5980187"/>
            <a:ext cx="4150720" cy="3086100"/>
            <a:chOff x="0" y="0"/>
            <a:chExt cx="1093194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3194" cy="812800"/>
            </a:xfrm>
            <a:custGeom>
              <a:avLst/>
              <a:gdLst/>
              <a:ahLst/>
              <a:cxnLst/>
              <a:rect r="r" b="b" t="t" l="l"/>
              <a:pathLst>
                <a:path h="812800" w="1093194">
                  <a:moveTo>
                    <a:pt x="0" y="0"/>
                  </a:moveTo>
                  <a:lnTo>
                    <a:pt x="1093194" y="0"/>
                  </a:lnTo>
                  <a:lnTo>
                    <a:pt x="109319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75E66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19050"/>
              <a:ext cx="1093194" cy="793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00"/>
                </a:lnSpc>
              </a:pPr>
              <a:r>
                <a:rPr lang="en-US" sz="2000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COMO USUARIO DE MANAMI</a:t>
              </a:r>
            </a:p>
            <a:p>
              <a:pPr algn="ctr">
                <a:lnSpc>
                  <a:spcPts val="2100"/>
                </a:lnSpc>
              </a:pPr>
              <a:r>
                <a:rPr lang="en-US" sz="2000" b="true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quiero </a:t>
              </a:r>
              <a:r>
                <a:rPr lang="en-US" sz="2000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utilizar un chatbot dentro de la aplicación</a:t>
              </a:r>
            </a:p>
            <a:p>
              <a:pPr algn="ctr">
                <a:lnSpc>
                  <a:spcPts val="2100"/>
                </a:lnSpc>
              </a:pPr>
              <a:r>
                <a:rPr lang="en-US" b="true" sz="2000">
                  <a:solidFill>
                    <a:srgbClr val="000000"/>
                  </a:solidFill>
                  <a:latin typeface="Lora Bold"/>
                  <a:ea typeface="Lora Bold"/>
                  <a:cs typeface="Lora Bold"/>
                  <a:sym typeface="Lora Bold"/>
                </a:rPr>
                <a:t>para </a:t>
              </a:r>
              <a:r>
                <a:rPr lang="en-US" sz="2000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obtener ayuda o consultar información relacionada con la gestión de materiales.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2933730" y="5552788"/>
            <a:ext cx="308610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CHATBOT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-3331085" y="-813544"/>
            <a:ext cx="7056960" cy="7364949"/>
          </a:xfrm>
          <a:custGeom>
            <a:avLst/>
            <a:gdLst/>
            <a:ahLst/>
            <a:cxnLst/>
            <a:rect r="r" b="b" t="t" l="l"/>
            <a:pathLst>
              <a:path h="7364949" w="7056960">
                <a:moveTo>
                  <a:pt x="7056960" y="0"/>
                </a:moveTo>
                <a:lnTo>
                  <a:pt x="0" y="0"/>
                </a:lnTo>
                <a:lnTo>
                  <a:pt x="0" y="7364948"/>
                </a:lnTo>
                <a:lnTo>
                  <a:pt x="7056960" y="7364948"/>
                </a:lnTo>
                <a:lnTo>
                  <a:pt x="705696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926371" y="6551404"/>
            <a:ext cx="7056960" cy="7364949"/>
          </a:xfrm>
          <a:custGeom>
            <a:avLst/>
            <a:gdLst/>
            <a:ahLst/>
            <a:cxnLst/>
            <a:rect r="r" b="b" t="t" l="l"/>
            <a:pathLst>
              <a:path h="7364949" w="7056960">
                <a:moveTo>
                  <a:pt x="0" y="0"/>
                </a:moveTo>
                <a:lnTo>
                  <a:pt x="7056960" y="0"/>
                </a:lnTo>
                <a:lnTo>
                  <a:pt x="7056960" y="7364949"/>
                </a:lnTo>
                <a:lnTo>
                  <a:pt x="0" y="73649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037085" y="3122849"/>
            <a:ext cx="3790324" cy="1555226"/>
            <a:chOff x="0" y="0"/>
            <a:chExt cx="5053765" cy="207363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053765" cy="2073635"/>
            </a:xfrm>
            <a:custGeom>
              <a:avLst/>
              <a:gdLst/>
              <a:ahLst/>
              <a:cxnLst/>
              <a:rect r="r" b="b" t="t" l="l"/>
              <a:pathLst>
                <a:path h="2073635" w="5053765">
                  <a:moveTo>
                    <a:pt x="0" y="0"/>
                  </a:moveTo>
                  <a:lnTo>
                    <a:pt x="5053765" y="0"/>
                  </a:lnTo>
                  <a:lnTo>
                    <a:pt x="5053765" y="2073635"/>
                  </a:lnTo>
                  <a:lnTo>
                    <a:pt x="0" y="20736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-570" r="0" b="-57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956013" y="838999"/>
              <a:ext cx="3141740" cy="3670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381"/>
                </a:lnSpc>
              </a:pPr>
              <a:r>
                <a:rPr lang="en-US" sz="1701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Prototipo de interfaz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897575" y="3122849"/>
            <a:ext cx="4800388" cy="1555226"/>
            <a:chOff x="0" y="0"/>
            <a:chExt cx="1264300" cy="40960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64300" cy="409607"/>
            </a:xfrm>
            <a:custGeom>
              <a:avLst/>
              <a:gdLst/>
              <a:ahLst/>
              <a:cxnLst/>
              <a:rect r="r" b="b" t="t" l="l"/>
              <a:pathLst>
                <a:path h="409607" w="1264300">
                  <a:moveTo>
                    <a:pt x="0" y="0"/>
                  </a:moveTo>
                  <a:lnTo>
                    <a:pt x="1264300" y="0"/>
                  </a:lnTo>
                  <a:lnTo>
                    <a:pt x="1264300" y="409607"/>
                  </a:lnTo>
                  <a:lnTo>
                    <a:pt x="0" y="409607"/>
                  </a:lnTo>
                  <a:close/>
                </a:path>
              </a:pathLst>
            </a:custGeom>
            <a:solidFill>
              <a:srgbClr val="F5BDBD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1264300" cy="381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5"/>
                </a:lnSpc>
              </a:pPr>
              <a:r>
                <a:rPr lang="en-US" b="true" sz="17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VERSIONES FUNCIONALES DEL SISTEMA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003273" y="3122849"/>
            <a:ext cx="4910636" cy="1555226"/>
            <a:chOff x="0" y="0"/>
            <a:chExt cx="1293336" cy="40960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93336" cy="409607"/>
            </a:xfrm>
            <a:custGeom>
              <a:avLst/>
              <a:gdLst/>
              <a:ahLst/>
              <a:cxnLst/>
              <a:rect r="r" b="b" t="t" l="l"/>
              <a:pathLst>
                <a:path h="409607" w="1293336">
                  <a:moveTo>
                    <a:pt x="0" y="0"/>
                  </a:moveTo>
                  <a:lnTo>
                    <a:pt x="1293336" y="0"/>
                  </a:lnTo>
                  <a:lnTo>
                    <a:pt x="1293336" y="409607"/>
                  </a:lnTo>
                  <a:lnTo>
                    <a:pt x="0" y="409607"/>
                  </a:lnTo>
                  <a:close/>
                </a:path>
              </a:pathLst>
            </a:custGeom>
            <a:solidFill>
              <a:srgbClr val="F5BDBD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28575"/>
              <a:ext cx="1293336" cy="3810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5"/>
                </a:lnSpc>
              </a:pPr>
              <a:r>
                <a:rPr lang="en-US" b="true" sz="17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MATRIZ DE TRAZABILIDAD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037085" y="5850151"/>
            <a:ext cx="3790324" cy="1862188"/>
            <a:chOff x="0" y="0"/>
            <a:chExt cx="998275" cy="49045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98275" cy="490453"/>
            </a:xfrm>
            <a:custGeom>
              <a:avLst/>
              <a:gdLst/>
              <a:ahLst/>
              <a:cxnLst/>
              <a:rect r="r" b="b" t="t" l="l"/>
              <a:pathLst>
                <a:path h="490453" w="998275">
                  <a:moveTo>
                    <a:pt x="0" y="0"/>
                  </a:moveTo>
                  <a:lnTo>
                    <a:pt x="998275" y="0"/>
                  </a:lnTo>
                  <a:lnTo>
                    <a:pt x="998275" y="490453"/>
                  </a:lnTo>
                  <a:lnTo>
                    <a:pt x="0" y="490453"/>
                  </a:lnTo>
                  <a:close/>
                </a:path>
              </a:pathLst>
            </a:custGeom>
            <a:solidFill>
              <a:srgbClr val="B75E6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28575"/>
              <a:ext cx="998275" cy="46187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5"/>
                </a:lnSpc>
              </a:pPr>
              <a:r>
                <a:rPr lang="en-US" b="true" sz="17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MODELO DE BASE DE DATOS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141734" y="5850151"/>
            <a:ext cx="4484267" cy="1805525"/>
            <a:chOff x="0" y="0"/>
            <a:chExt cx="1181042" cy="47552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81042" cy="475529"/>
            </a:xfrm>
            <a:custGeom>
              <a:avLst/>
              <a:gdLst/>
              <a:ahLst/>
              <a:cxnLst/>
              <a:rect r="r" b="b" t="t" l="l"/>
              <a:pathLst>
                <a:path h="475529" w="1181042">
                  <a:moveTo>
                    <a:pt x="0" y="0"/>
                  </a:moveTo>
                  <a:lnTo>
                    <a:pt x="1181042" y="0"/>
                  </a:lnTo>
                  <a:lnTo>
                    <a:pt x="1181042" y="475529"/>
                  </a:lnTo>
                  <a:lnTo>
                    <a:pt x="0" y="475529"/>
                  </a:lnTo>
                  <a:close/>
                </a:path>
              </a:pathLst>
            </a:custGeom>
            <a:solidFill>
              <a:srgbClr val="B75E66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28575"/>
              <a:ext cx="1181042" cy="4469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85"/>
                </a:lnSpc>
              </a:pPr>
              <a:r>
                <a:rPr lang="en-US" b="true" sz="1700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VALIDACIÓN DEL USUARIO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5130589" y="1687830"/>
            <a:ext cx="6166214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6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EVIDENCIAS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78904" y="4714310"/>
            <a:ext cx="7058025" cy="7372350"/>
          </a:xfrm>
          <a:custGeom>
            <a:avLst/>
            <a:gdLst/>
            <a:ahLst/>
            <a:cxnLst/>
            <a:rect r="r" b="b" t="t" l="l"/>
            <a:pathLst>
              <a:path h="7372350" w="7058025">
                <a:moveTo>
                  <a:pt x="0" y="0"/>
                </a:moveTo>
                <a:lnTo>
                  <a:pt x="7058025" y="0"/>
                </a:lnTo>
                <a:lnTo>
                  <a:pt x="7058025" y="7372350"/>
                </a:lnTo>
                <a:lnTo>
                  <a:pt x="0" y="73723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286250" y="3619500"/>
            <a:ext cx="3048000" cy="1333500"/>
            <a:chOff x="0" y="0"/>
            <a:chExt cx="4064000" cy="1778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177800" y="0"/>
                  </a:moveTo>
                  <a:lnTo>
                    <a:pt x="3886200" y="0"/>
                  </a:lnTo>
                  <a:cubicBezTo>
                    <a:pt x="3984396" y="0"/>
                    <a:pt x="4064000" y="79604"/>
                    <a:pt x="4064000" y="177800"/>
                  </a:cubicBezTo>
                  <a:lnTo>
                    <a:pt x="4064000" y="1600200"/>
                  </a:lnTo>
                  <a:cubicBezTo>
                    <a:pt x="4064000" y="1698396"/>
                    <a:pt x="3984396" y="1778000"/>
                    <a:pt x="3886200" y="1778000"/>
                  </a:cubicBezTo>
                  <a:lnTo>
                    <a:pt x="177800" y="1778000"/>
                  </a:lnTo>
                  <a:cubicBezTo>
                    <a:pt x="79604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B75E6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064000" cy="1825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rPr>
                <a:t>Historias de usuario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715250" y="3619500"/>
            <a:ext cx="3048000" cy="1333500"/>
            <a:chOff x="0" y="0"/>
            <a:chExt cx="4064000" cy="1778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177800" y="0"/>
                  </a:moveTo>
                  <a:lnTo>
                    <a:pt x="3886200" y="0"/>
                  </a:lnTo>
                  <a:cubicBezTo>
                    <a:pt x="3984396" y="0"/>
                    <a:pt x="4064000" y="79604"/>
                    <a:pt x="4064000" y="177800"/>
                  </a:cubicBezTo>
                  <a:lnTo>
                    <a:pt x="4064000" y="1600200"/>
                  </a:lnTo>
                  <a:cubicBezTo>
                    <a:pt x="4064000" y="1698396"/>
                    <a:pt x="3984396" y="1778000"/>
                    <a:pt x="3886200" y="1778000"/>
                  </a:cubicBezTo>
                  <a:lnTo>
                    <a:pt x="177800" y="1778000"/>
                  </a:lnTo>
                  <a:cubicBezTo>
                    <a:pt x="79604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B75E6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4064000" cy="1825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rPr>
                <a:t>Burndown Chart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144250" y="3619500"/>
            <a:ext cx="3048000" cy="1333500"/>
            <a:chOff x="0" y="0"/>
            <a:chExt cx="4064000" cy="1778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177800" y="0"/>
                  </a:moveTo>
                  <a:lnTo>
                    <a:pt x="3886200" y="0"/>
                  </a:lnTo>
                  <a:cubicBezTo>
                    <a:pt x="3984396" y="0"/>
                    <a:pt x="4064000" y="79604"/>
                    <a:pt x="4064000" y="177800"/>
                  </a:cubicBezTo>
                  <a:lnTo>
                    <a:pt x="4064000" y="1600200"/>
                  </a:lnTo>
                  <a:cubicBezTo>
                    <a:pt x="4064000" y="1698396"/>
                    <a:pt x="3984396" y="1778000"/>
                    <a:pt x="3886200" y="1778000"/>
                  </a:cubicBezTo>
                  <a:lnTo>
                    <a:pt x="177800" y="1778000"/>
                  </a:lnTo>
                  <a:cubicBezTo>
                    <a:pt x="79604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B75E6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4064000" cy="1825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rPr>
                <a:t>Daily Scrum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4286250" y="5334000"/>
            <a:ext cx="3048000" cy="1333500"/>
            <a:chOff x="0" y="0"/>
            <a:chExt cx="4064000" cy="1778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177800" y="0"/>
                  </a:moveTo>
                  <a:lnTo>
                    <a:pt x="3886200" y="0"/>
                  </a:lnTo>
                  <a:cubicBezTo>
                    <a:pt x="3984396" y="0"/>
                    <a:pt x="4064000" y="79604"/>
                    <a:pt x="4064000" y="177800"/>
                  </a:cubicBezTo>
                  <a:lnTo>
                    <a:pt x="4064000" y="1600200"/>
                  </a:lnTo>
                  <a:cubicBezTo>
                    <a:pt x="4064000" y="1698396"/>
                    <a:pt x="3984396" y="1778000"/>
                    <a:pt x="3886200" y="1778000"/>
                  </a:cubicBezTo>
                  <a:lnTo>
                    <a:pt x="177800" y="1778000"/>
                  </a:lnTo>
                  <a:cubicBezTo>
                    <a:pt x="79604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B75E6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4064000" cy="1825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rPr>
                <a:t>Sprint Review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7715250" y="5334000"/>
            <a:ext cx="3048000" cy="1333500"/>
            <a:chOff x="0" y="0"/>
            <a:chExt cx="4064000" cy="1778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177800" y="0"/>
                  </a:moveTo>
                  <a:lnTo>
                    <a:pt x="3886200" y="0"/>
                  </a:lnTo>
                  <a:cubicBezTo>
                    <a:pt x="3984396" y="0"/>
                    <a:pt x="4064000" y="79604"/>
                    <a:pt x="4064000" y="177800"/>
                  </a:cubicBezTo>
                  <a:lnTo>
                    <a:pt x="4064000" y="1600200"/>
                  </a:lnTo>
                  <a:cubicBezTo>
                    <a:pt x="4064000" y="1698396"/>
                    <a:pt x="3984396" y="1778000"/>
                    <a:pt x="3886200" y="1778000"/>
                  </a:cubicBezTo>
                  <a:lnTo>
                    <a:pt x="177800" y="1778000"/>
                  </a:lnTo>
                  <a:cubicBezTo>
                    <a:pt x="79604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B75E6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47625"/>
              <a:ext cx="4064000" cy="1825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rPr>
                <a:t>Feedback del usuario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2557347">
            <a:off x="14192250" y="6409872"/>
            <a:ext cx="5171236" cy="5171236"/>
          </a:xfrm>
          <a:custGeom>
            <a:avLst/>
            <a:gdLst/>
            <a:ahLst/>
            <a:cxnLst/>
            <a:rect r="r" b="b" t="t" l="l"/>
            <a:pathLst>
              <a:path h="5171236" w="5171236">
                <a:moveTo>
                  <a:pt x="0" y="0"/>
                </a:moveTo>
                <a:lnTo>
                  <a:pt x="5171236" y="0"/>
                </a:lnTo>
                <a:lnTo>
                  <a:pt x="5171236" y="5171236"/>
                </a:lnTo>
                <a:lnTo>
                  <a:pt x="0" y="51712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-1610159" y="-1552842"/>
            <a:ext cx="4038867" cy="4038867"/>
          </a:xfrm>
          <a:custGeom>
            <a:avLst/>
            <a:gdLst/>
            <a:ahLst/>
            <a:cxnLst/>
            <a:rect r="r" b="b" t="t" l="l"/>
            <a:pathLst>
              <a:path h="4038867" w="4038867">
                <a:moveTo>
                  <a:pt x="0" y="0"/>
                </a:moveTo>
                <a:lnTo>
                  <a:pt x="4038867" y="0"/>
                </a:lnTo>
                <a:lnTo>
                  <a:pt x="4038867" y="4038867"/>
                </a:lnTo>
                <a:lnTo>
                  <a:pt x="0" y="40388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5133975" y="1657350"/>
            <a:ext cx="7620000" cy="17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00"/>
              </a:lnSpc>
            </a:pPr>
            <a:r>
              <a:rPr lang="en-US" sz="6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EVIDENCIAS POR SPRINT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1144250" y="5334000"/>
            <a:ext cx="3048000" cy="1333500"/>
            <a:chOff x="0" y="0"/>
            <a:chExt cx="4064000" cy="1778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177800" y="0"/>
                  </a:moveTo>
                  <a:lnTo>
                    <a:pt x="3886200" y="0"/>
                  </a:lnTo>
                  <a:cubicBezTo>
                    <a:pt x="3984396" y="0"/>
                    <a:pt x="4064000" y="79604"/>
                    <a:pt x="4064000" y="177800"/>
                  </a:cubicBezTo>
                  <a:lnTo>
                    <a:pt x="4064000" y="1600200"/>
                  </a:lnTo>
                  <a:cubicBezTo>
                    <a:pt x="4064000" y="1698396"/>
                    <a:pt x="3984396" y="1778000"/>
                    <a:pt x="3886200" y="1778000"/>
                  </a:cubicBezTo>
                  <a:lnTo>
                    <a:pt x="177800" y="1778000"/>
                  </a:lnTo>
                  <a:cubicBezTo>
                    <a:pt x="79604" y="1778000"/>
                    <a:pt x="0" y="1698396"/>
                    <a:pt x="0" y="1600200"/>
                  </a:cubicBezTo>
                  <a:lnTo>
                    <a:pt x="0" y="177800"/>
                  </a:lnTo>
                  <a:cubicBezTo>
                    <a:pt x="0" y="79604"/>
                    <a:pt x="79604" y="0"/>
                    <a:pt x="177800" y="0"/>
                  </a:cubicBezTo>
                  <a:close/>
                </a:path>
              </a:pathLst>
            </a:custGeom>
            <a:solidFill>
              <a:srgbClr val="B75E66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47625"/>
              <a:ext cx="4064000" cy="18256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Lora"/>
                  <a:ea typeface="Lora"/>
                  <a:cs typeface="Lora"/>
                  <a:sym typeface="Lora"/>
                </a:rPr>
                <a:t> Software por sprint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584018" y="1527296"/>
            <a:ext cx="2403079" cy="7422637"/>
          </a:xfrm>
          <a:custGeom>
            <a:avLst/>
            <a:gdLst/>
            <a:ahLst/>
            <a:cxnLst/>
            <a:rect r="r" b="b" t="t" l="l"/>
            <a:pathLst>
              <a:path h="7422637" w="2403079">
                <a:moveTo>
                  <a:pt x="0" y="0"/>
                </a:moveTo>
                <a:lnTo>
                  <a:pt x="2403079" y="0"/>
                </a:lnTo>
                <a:lnTo>
                  <a:pt x="2403079" y="7422636"/>
                </a:lnTo>
                <a:lnTo>
                  <a:pt x="0" y="74226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81875" y="1527296"/>
            <a:ext cx="2198956" cy="7422637"/>
          </a:xfrm>
          <a:custGeom>
            <a:avLst/>
            <a:gdLst/>
            <a:ahLst/>
            <a:cxnLst/>
            <a:rect r="r" b="b" t="t" l="l"/>
            <a:pathLst>
              <a:path h="7422637" w="2198956">
                <a:moveTo>
                  <a:pt x="0" y="0"/>
                </a:moveTo>
                <a:lnTo>
                  <a:pt x="2198956" y="0"/>
                </a:lnTo>
                <a:lnTo>
                  <a:pt x="2198956" y="7422636"/>
                </a:lnTo>
                <a:lnTo>
                  <a:pt x="0" y="74226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653821" y="3959061"/>
            <a:ext cx="2320308" cy="2395783"/>
          </a:xfrm>
          <a:custGeom>
            <a:avLst/>
            <a:gdLst/>
            <a:ahLst/>
            <a:cxnLst/>
            <a:rect r="r" b="b" t="t" l="l"/>
            <a:pathLst>
              <a:path h="2395783" w="2320308">
                <a:moveTo>
                  <a:pt x="0" y="0"/>
                </a:moveTo>
                <a:lnTo>
                  <a:pt x="2320308" y="0"/>
                </a:lnTo>
                <a:lnTo>
                  <a:pt x="2320308" y="2395782"/>
                </a:lnTo>
                <a:lnTo>
                  <a:pt x="0" y="23957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563" t="-4023" r="-6711" b="-4586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382589" y="3917061"/>
            <a:ext cx="2242711" cy="2437783"/>
          </a:xfrm>
          <a:custGeom>
            <a:avLst/>
            <a:gdLst/>
            <a:ahLst/>
            <a:cxnLst/>
            <a:rect r="r" b="b" t="t" l="l"/>
            <a:pathLst>
              <a:path h="2437783" w="2242711">
                <a:moveTo>
                  <a:pt x="0" y="0"/>
                </a:moveTo>
                <a:lnTo>
                  <a:pt x="2242711" y="0"/>
                </a:lnTo>
                <a:lnTo>
                  <a:pt x="2242711" y="2437782"/>
                </a:lnTo>
                <a:lnTo>
                  <a:pt x="0" y="24377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827" t="-577" r="-8451" b="-7316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025463" y="3293823"/>
            <a:ext cx="3733153" cy="4412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02"/>
              </a:lnSpc>
              <a:spcBef>
                <a:spcPct val="0"/>
              </a:spcBef>
            </a:pPr>
            <a:r>
              <a:rPr lang="en-US" sz="3145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PRODUCT OWNER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325676" y="2994782"/>
            <a:ext cx="4129171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5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SCRUM MASTER &amp; DEVELOPER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567010" y="1737687"/>
            <a:ext cx="6388875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3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SCRUM</a:t>
            </a:r>
            <a:r>
              <a:rPr lang="en-US" sz="6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 TEAM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382589" y="3293823"/>
            <a:ext cx="4129171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5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DEVELOPER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1211886" y="3889867"/>
            <a:ext cx="2630221" cy="2602053"/>
          </a:xfrm>
          <a:custGeom>
            <a:avLst/>
            <a:gdLst/>
            <a:ahLst/>
            <a:cxnLst/>
            <a:rect r="r" b="b" t="t" l="l"/>
            <a:pathLst>
              <a:path h="2602053" w="2630221">
                <a:moveTo>
                  <a:pt x="0" y="0"/>
                </a:moveTo>
                <a:lnTo>
                  <a:pt x="2630221" y="0"/>
                </a:lnTo>
                <a:lnTo>
                  <a:pt x="2630221" y="2602053"/>
                </a:lnTo>
                <a:lnTo>
                  <a:pt x="0" y="26020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437" r="0" b="-4116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609681" y="3842473"/>
            <a:ext cx="2564717" cy="2602053"/>
          </a:xfrm>
          <a:custGeom>
            <a:avLst/>
            <a:gdLst/>
            <a:ahLst/>
            <a:cxnLst/>
            <a:rect r="r" b="b" t="t" l="l"/>
            <a:pathLst>
              <a:path h="2602053" w="2564717">
                <a:moveTo>
                  <a:pt x="0" y="0"/>
                </a:moveTo>
                <a:lnTo>
                  <a:pt x="2564717" y="0"/>
                </a:lnTo>
                <a:lnTo>
                  <a:pt x="2564717" y="2602054"/>
                </a:lnTo>
                <a:lnTo>
                  <a:pt x="0" y="26020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102755" y="6636048"/>
            <a:ext cx="1422440" cy="21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Marcia Alvarez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555585" y="3917061"/>
            <a:ext cx="2391736" cy="2574860"/>
          </a:xfrm>
          <a:custGeom>
            <a:avLst/>
            <a:gdLst/>
            <a:ahLst/>
            <a:cxnLst/>
            <a:rect r="r" b="b" t="t" l="l"/>
            <a:pathLst>
              <a:path h="2574860" w="2391736">
                <a:moveTo>
                  <a:pt x="0" y="0"/>
                </a:moveTo>
                <a:lnTo>
                  <a:pt x="2391736" y="0"/>
                </a:lnTo>
                <a:lnTo>
                  <a:pt x="2391736" y="2574859"/>
                </a:lnTo>
                <a:lnTo>
                  <a:pt x="0" y="25748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0788" r="-7867" b="-22806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403185" y="3842473"/>
            <a:ext cx="2579913" cy="2728701"/>
          </a:xfrm>
          <a:custGeom>
            <a:avLst/>
            <a:gdLst/>
            <a:ahLst/>
            <a:cxnLst/>
            <a:rect r="r" b="b" t="t" l="l"/>
            <a:pathLst>
              <a:path h="2728701" w="2579913">
                <a:moveTo>
                  <a:pt x="0" y="0"/>
                </a:moveTo>
                <a:lnTo>
                  <a:pt x="2579913" y="0"/>
                </a:lnTo>
                <a:lnTo>
                  <a:pt x="2579913" y="2728701"/>
                </a:lnTo>
                <a:lnTo>
                  <a:pt x="0" y="27287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437" r="-6912" b="-4116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668013" y="6647478"/>
            <a:ext cx="1644015" cy="21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Nicolas Pimentel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573723" y="6701470"/>
            <a:ext cx="4129171" cy="211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  <a:spcBef>
                <a:spcPct val="0"/>
              </a:spcBef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Matias Rosales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159251" y="5722063"/>
            <a:ext cx="3106383" cy="909381"/>
            <a:chOff x="0" y="0"/>
            <a:chExt cx="1388235" cy="406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88235" cy="406400"/>
            </a:xfrm>
            <a:custGeom>
              <a:avLst/>
              <a:gdLst/>
              <a:ahLst/>
              <a:cxnLst/>
              <a:rect r="r" b="b" t="t" l="l"/>
              <a:pathLst>
                <a:path h="406400" w="1388235">
                  <a:moveTo>
                    <a:pt x="1041176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41176" y="406400"/>
                  </a:lnTo>
                  <a:lnTo>
                    <a:pt x="1388235" y="203200"/>
                  </a:lnTo>
                  <a:lnTo>
                    <a:pt x="1041176" y="0"/>
                  </a:lnTo>
                  <a:close/>
                </a:path>
              </a:pathLst>
            </a:custGeom>
            <a:solidFill>
              <a:srgbClr val="7BA39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57150"/>
              <a:ext cx="1193014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  <a:r>
                <a:rPr lang="en-US" b="true" sz="3200">
                  <a:solidFill>
                    <a:srgbClr val="FFFFFF"/>
                  </a:solidFill>
                  <a:latin typeface="Lora Bold"/>
                  <a:ea typeface="Lora Bold"/>
                  <a:cs typeface="Lora Bold"/>
                  <a:sym typeface="Lora Bold"/>
                </a:rPr>
                <a:t>Sprint 1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386972" y="5722063"/>
            <a:ext cx="3106383" cy="909381"/>
            <a:chOff x="0" y="0"/>
            <a:chExt cx="1388235" cy="4064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88235" cy="406400"/>
            </a:xfrm>
            <a:custGeom>
              <a:avLst/>
              <a:gdLst/>
              <a:ahLst/>
              <a:cxnLst/>
              <a:rect r="r" b="b" t="t" l="l"/>
              <a:pathLst>
                <a:path h="406400" w="1388235">
                  <a:moveTo>
                    <a:pt x="1041176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41176" y="406400"/>
                  </a:lnTo>
                  <a:lnTo>
                    <a:pt x="1388235" y="203200"/>
                  </a:lnTo>
                  <a:lnTo>
                    <a:pt x="1041176" y="0"/>
                  </a:lnTo>
                  <a:close/>
                </a:path>
              </a:pathLst>
            </a:custGeom>
            <a:solidFill>
              <a:srgbClr val="7BA395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193014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b="true" sz="3200">
                  <a:solidFill>
                    <a:srgbClr val="FFFFFF"/>
                  </a:solidFill>
                  <a:latin typeface="Lora Bold"/>
                  <a:ea typeface="Lora Bold"/>
                  <a:cs typeface="Lora Bold"/>
                  <a:sym typeface="Lora Bold"/>
                </a:rPr>
                <a:t>Sprint 2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639298" y="5722063"/>
            <a:ext cx="3106383" cy="909381"/>
            <a:chOff x="0" y="0"/>
            <a:chExt cx="1388235" cy="406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88235" cy="406400"/>
            </a:xfrm>
            <a:custGeom>
              <a:avLst/>
              <a:gdLst/>
              <a:ahLst/>
              <a:cxnLst/>
              <a:rect r="r" b="b" t="t" l="l"/>
              <a:pathLst>
                <a:path h="406400" w="1388235">
                  <a:moveTo>
                    <a:pt x="1041176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41176" y="406400"/>
                  </a:lnTo>
                  <a:lnTo>
                    <a:pt x="1388235" y="203200"/>
                  </a:lnTo>
                  <a:lnTo>
                    <a:pt x="1041176" y="0"/>
                  </a:lnTo>
                  <a:close/>
                </a:path>
              </a:pathLst>
            </a:custGeom>
            <a:solidFill>
              <a:srgbClr val="7BA395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193014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b="true" sz="3200">
                  <a:solidFill>
                    <a:srgbClr val="FFFFFF"/>
                  </a:solidFill>
                  <a:latin typeface="Lora Bold"/>
                  <a:ea typeface="Lora Bold"/>
                  <a:cs typeface="Lora Bold"/>
                  <a:sym typeface="Lora Bold"/>
                </a:rPr>
                <a:t>Sprint 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879032" y="5722063"/>
            <a:ext cx="3106383" cy="909381"/>
            <a:chOff x="0" y="0"/>
            <a:chExt cx="1388235" cy="406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88235" cy="406400"/>
            </a:xfrm>
            <a:custGeom>
              <a:avLst/>
              <a:gdLst/>
              <a:ahLst/>
              <a:cxnLst/>
              <a:rect r="r" b="b" t="t" l="l"/>
              <a:pathLst>
                <a:path h="406400" w="1388235">
                  <a:moveTo>
                    <a:pt x="1041176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41176" y="406400"/>
                  </a:lnTo>
                  <a:lnTo>
                    <a:pt x="1388235" y="203200"/>
                  </a:lnTo>
                  <a:lnTo>
                    <a:pt x="1041176" y="0"/>
                  </a:lnTo>
                  <a:close/>
                </a:path>
              </a:pathLst>
            </a:custGeom>
            <a:solidFill>
              <a:srgbClr val="7BA395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193014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b="true" sz="3200">
                  <a:solidFill>
                    <a:srgbClr val="FFFFFF"/>
                  </a:solidFill>
                  <a:latin typeface="Lora Bold"/>
                  <a:ea typeface="Lora Bold"/>
                  <a:cs typeface="Lora Bold"/>
                  <a:sym typeface="Lora Bold"/>
                </a:rPr>
                <a:t>Sprint 4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7783257" y="6923494"/>
            <a:ext cx="2551764" cy="2516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5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Alerta y creación de chatbot</a:t>
            </a:r>
          </a:p>
          <a:p>
            <a:pPr algn="l" marL="345439" indent="-172720" lvl="1">
              <a:lnSpc>
                <a:spcPts val="167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Creación de chatbot.</a:t>
            </a:r>
          </a:p>
          <a:p>
            <a:pPr algn="l" marL="345439" indent="-172720" lvl="1">
              <a:lnSpc>
                <a:spcPts val="167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Notificaciones del chatbot</a:t>
            </a: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.</a:t>
            </a:r>
          </a:p>
          <a:p>
            <a:pPr algn="l" marL="345439" indent="-172720" lvl="1">
              <a:lnSpc>
                <a:spcPts val="167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envio de notificaciones por correo </a:t>
            </a:r>
          </a:p>
          <a:p>
            <a:pPr algn="l" marL="345439" indent="-172720" lvl="1">
              <a:lnSpc>
                <a:spcPts val="167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creacion de copias de respaldo </a:t>
            </a:r>
          </a:p>
          <a:p>
            <a:pPr algn="l" marL="345439" indent="-172720" lvl="1">
              <a:lnSpc>
                <a:spcPts val="167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vistas de pedidos próximos a la fecha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897689" y="6923494"/>
            <a:ext cx="3097251" cy="1468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5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Cierre del proyecto </a:t>
            </a:r>
          </a:p>
          <a:p>
            <a:pPr algn="l" marL="345439" indent="-172720" lvl="1">
              <a:lnSpc>
                <a:spcPts val="167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Entrega del producto final  al cliente</a:t>
            </a:r>
          </a:p>
          <a:p>
            <a:pPr algn="l" marL="345439" indent="-172720" lvl="1">
              <a:lnSpc>
                <a:spcPts val="1679"/>
              </a:lnSpc>
              <a:buFont typeface="Arial"/>
              <a:buChar char="•"/>
            </a:pPr>
            <a:r>
              <a:rPr lang="en-US" b="true" sz="15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Entrega de documentación con información sensible al cliente </a:t>
            </a:r>
          </a:p>
          <a:p>
            <a:pPr algn="l">
              <a:lnSpc>
                <a:spcPts val="1679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3965795" y="6923494"/>
            <a:ext cx="3290708" cy="18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5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Gestión de usuarios e inventario</a:t>
            </a:r>
          </a:p>
          <a:p>
            <a:pPr algn="l">
              <a:lnSpc>
                <a:spcPts val="1679"/>
              </a:lnSpc>
            </a:pPr>
          </a:p>
          <a:p>
            <a:pPr algn="l" marL="345439" indent="-172720" lvl="1">
              <a:lnSpc>
                <a:spcPts val="167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Creación de inicio de sesión.</a:t>
            </a:r>
          </a:p>
          <a:p>
            <a:pPr algn="l" marL="345439" indent="-172720" lvl="1">
              <a:lnSpc>
                <a:spcPts val="167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Creación del cierre de sesión.</a:t>
            </a:r>
          </a:p>
          <a:p>
            <a:pPr algn="l" marL="345439" indent="-172720" lvl="1">
              <a:lnSpc>
                <a:spcPts val="167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Analizar requerimientos.</a:t>
            </a:r>
          </a:p>
          <a:p>
            <a:pPr algn="l" marL="345439" indent="-172720" lvl="1">
              <a:lnSpc>
                <a:spcPts val="167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Diseñar apartado de inventario.</a:t>
            </a:r>
          </a:p>
          <a:p>
            <a:pPr algn="l" marL="345439" indent="-172720" lvl="1">
              <a:lnSpc>
                <a:spcPts val="167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Diseñar calendario de pedido.</a:t>
            </a:r>
          </a:p>
          <a:p>
            <a:pPr algn="l" marL="345439" indent="-172720" lvl="1">
              <a:lnSpc>
                <a:spcPts val="167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Diseñar gestión de pedidos.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660835" y="6923494"/>
            <a:ext cx="3097251" cy="188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5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Análisis de datos</a:t>
            </a:r>
          </a:p>
          <a:p>
            <a:pPr algn="l" marL="345439" indent="-172720" lvl="1">
              <a:lnSpc>
                <a:spcPts val="167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dashboard de costos mensuales</a:t>
            </a:r>
          </a:p>
          <a:p>
            <a:pPr algn="l" marL="345439" indent="-172720" lvl="1">
              <a:lnSpc>
                <a:spcPts val="167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Predicciones de materiales</a:t>
            </a:r>
          </a:p>
          <a:p>
            <a:pPr algn="l" marL="345439" indent="-172720" lvl="1">
              <a:lnSpc>
                <a:spcPts val="167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dashboard de rendimiento mensual </a:t>
            </a:r>
          </a:p>
          <a:p>
            <a:pPr algn="l" marL="345439" indent="-172720" lvl="1">
              <a:lnSpc>
                <a:spcPts val="167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dashboard de estado de pedidos </a:t>
            </a:r>
          </a:p>
          <a:p>
            <a:pPr algn="l">
              <a:lnSpc>
                <a:spcPts val="1679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110761" y="2589557"/>
            <a:ext cx="7616517" cy="1638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6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DEFINICION DE SPRINT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3488743" y="437345"/>
            <a:ext cx="3506197" cy="3887807"/>
          </a:xfrm>
          <a:custGeom>
            <a:avLst/>
            <a:gdLst/>
            <a:ahLst/>
            <a:cxnLst/>
            <a:rect r="r" b="b" t="t" l="l"/>
            <a:pathLst>
              <a:path h="3887807" w="3506197">
                <a:moveTo>
                  <a:pt x="0" y="0"/>
                </a:moveTo>
                <a:lnTo>
                  <a:pt x="3506197" y="0"/>
                </a:lnTo>
                <a:lnTo>
                  <a:pt x="3506197" y="3887807"/>
                </a:lnTo>
                <a:lnTo>
                  <a:pt x="0" y="38878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735586" y="5722063"/>
            <a:ext cx="3106383" cy="909381"/>
            <a:chOff x="0" y="0"/>
            <a:chExt cx="1388235" cy="406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88235" cy="406400"/>
            </a:xfrm>
            <a:custGeom>
              <a:avLst/>
              <a:gdLst/>
              <a:ahLst/>
              <a:cxnLst/>
              <a:rect r="r" b="b" t="t" l="l"/>
              <a:pathLst>
                <a:path h="406400" w="1388235">
                  <a:moveTo>
                    <a:pt x="1041176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041176" y="406400"/>
                  </a:lnTo>
                  <a:lnTo>
                    <a:pt x="1388235" y="203200"/>
                  </a:lnTo>
                  <a:lnTo>
                    <a:pt x="1041176" y="0"/>
                  </a:lnTo>
                  <a:close/>
                </a:path>
              </a:pathLst>
            </a:custGeom>
            <a:solidFill>
              <a:srgbClr val="7BA395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193014" cy="4635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80"/>
                </a:lnSpc>
              </a:pPr>
              <a:r>
                <a:rPr lang="en-US" b="true" sz="3200">
                  <a:solidFill>
                    <a:srgbClr val="FFFFFF"/>
                  </a:solidFill>
                  <a:latin typeface="Lora Bold"/>
                  <a:ea typeface="Lora Bold"/>
                  <a:cs typeface="Lora Bold"/>
                  <a:sym typeface="Lora Bold"/>
                </a:rPr>
                <a:t>Sprint 0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542130" y="6923494"/>
            <a:ext cx="3290708" cy="2097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5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Diseño y planificación</a:t>
            </a:r>
          </a:p>
          <a:p>
            <a:pPr algn="l">
              <a:lnSpc>
                <a:spcPts val="1679"/>
              </a:lnSpc>
            </a:pPr>
          </a:p>
          <a:p>
            <a:pPr algn="l" marL="345439" indent="-172720" lvl="1">
              <a:lnSpc>
                <a:spcPts val="167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Definir Requisitos Funcionales y no funcionales.</a:t>
            </a:r>
          </a:p>
          <a:p>
            <a:pPr algn="l" marL="345439" indent="-172720" lvl="1">
              <a:lnSpc>
                <a:spcPts val="167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Crear historias de usuario.</a:t>
            </a:r>
          </a:p>
          <a:p>
            <a:pPr algn="l" marL="345439" indent="-172720" lvl="1">
              <a:lnSpc>
                <a:spcPts val="167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Analizar requerimientos.</a:t>
            </a:r>
          </a:p>
          <a:p>
            <a:pPr algn="l" marL="345439" indent="-172720" lvl="1">
              <a:lnSpc>
                <a:spcPts val="167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Diseñar matriz de trazabilidad.</a:t>
            </a:r>
          </a:p>
          <a:p>
            <a:pPr algn="l" marL="345439" indent="-172720" lvl="1">
              <a:lnSpc>
                <a:spcPts val="167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Migración de base de datos </a:t>
            </a:r>
          </a:p>
          <a:p>
            <a:pPr algn="l" marL="345439" indent="-172720" lvl="1">
              <a:lnSpc>
                <a:spcPts val="1679"/>
              </a:lnSpc>
              <a:buFont typeface="Arial"/>
              <a:buChar char="•"/>
            </a:pPr>
            <a:r>
              <a:rPr lang="en-US" sz="15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Definir arquitectura.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70380" y="424095"/>
            <a:ext cx="16186598" cy="9438810"/>
          </a:xfrm>
          <a:custGeom>
            <a:avLst/>
            <a:gdLst/>
            <a:ahLst/>
            <a:cxnLst/>
            <a:rect r="r" b="b" t="t" l="l"/>
            <a:pathLst>
              <a:path h="9438810" w="16186598">
                <a:moveTo>
                  <a:pt x="0" y="0"/>
                </a:moveTo>
                <a:lnTo>
                  <a:pt x="16186598" y="0"/>
                </a:lnTo>
                <a:lnTo>
                  <a:pt x="16186598" y="9438810"/>
                </a:lnTo>
                <a:lnTo>
                  <a:pt x="0" y="94388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-5400000">
            <a:off x="-3300720" y="4361806"/>
            <a:ext cx="7997190" cy="179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72"/>
              </a:lnSpc>
              <a:spcBef>
                <a:spcPct val="0"/>
              </a:spcBef>
            </a:pPr>
            <a:r>
              <a:rPr lang="en-US" b="true" sz="10623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Cronograma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762491" y="691290"/>
            <a:ext cx="16357144" cy="8904420"/>
          </a:xfrm>
          <a:custGeom>
            <a:avLst/>
            <a:gdLst/>
            <a:ahLst/>
            <a:cxnLst/>
            <a:rect r="r" b="b" t="t" l="l"/>
            <a:pathLst>
              <a:path h="8904420" w="16357144">
                <a:moveTo>
                  <a:pt x="0" y="0"/>
                </a:moveTo>
                <a:lnTo>
                  <a:pt x="16357145" y="0"/>
                </a:lnTo>
                <a:lnTo>
                  <a:pt x="16357145" y="8904420"/>
                </a:lnTo>
                <a:lnTo>
                  <a:pt x="0" y="89044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-5400000">
            <a:off x="-3300720" y="4361806"/>
            <a:ext cx="7997190" cy="1795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72"/>
              </a:lnSpc>
              <a:spcBef>
                <a:spcPct val="0"/>
              </a:spcBef>
            </a:pPr>
            <a:r>
              <a:rPr lang="en-US" b="true" sz="10623">
                <a:solidFill>
                  <a:srgbClr val="000000"/>
                </a:solidFill>
                <a:latin typeface="Lora Bold"/>
                <a:ea typeface="Lora Bold"/>
                <a:cs typeface="Lora Bold"/>
                <a:sym typeface="Lora Bold"/>
              </a:rPr>
              <a:t>Cronograma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3345034"/>
            <a:ext cx="5050754" cy="5907315"/>
          </a:xfrm>
          <a:custGeom>
            <a:avLst/>
            <a:gdLst/>
            <a:ahLst/>
            <a:cxnLst/>
            <a:rect r="r" b="b" t="t" l="l"/>
            <a:pathLst>
              <a:path h="5907315" w="5050754">
                <a:moveTo>
                  <a:pt x="0" y="0"/>
                </a:moveTo>
                <a:lnTo>
                  <a:pt x="5050754" y="0"/>
                </a:lnTo>
                <a:lnTo>
                  <a:pt x="5050754" y="5907316"/>
                </a:lnTo>
                <a:lnTo>
                  <a:pt x="0" y="59073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926769" y="2727244"/>
            <a:ext cx="9533727" cy="4970096"/>
            <a:chOff x="0" y="0"/>
            <a:chExt cx="2510941" cy="130899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510941" cy="1308996"/>
            </a:xfrm>
            <a:custGeom>
              <a:avLst/>
              <a:gdLst/>
              <a:ahLst/>
              <a:cxnLst/>
              <a:rect r="r" b="b" t="t" l="l"/>
              <a:pathLst>
                <a:path h="1308996" w="2510941">
                  <a:moveTo>
                    <a:pt x="41415" y="0"/>
                  </a:moveTo>
                  <a:lnTo>
                    <a:pt x="2469526" y="0"/>
                  </a:lnTo>
                  <a:cubicBezTo>
                    <a:pt x="2492398" y="0"/>
                    <a:pt x="2510941" y="18542"/>
                    <a:pt x="2510941" y="41415"/>
                  </a:cubicBezTo>
                  <a:lnTo>
                    <a:pt x="2510941" y="1267582"/>
                  </a:lnTo>
                  <a:cubicBezTo>
                    <a:pt x="2510941" y="1290454"/>
                    <a:pt x="2492398" y="1308996"/>
                    <a:pt x="2469526" y="1308996"/>
                  </a:cubicBezTo>
                  <a:lnTo>
                    <a:pt x="41415" y="1308996"/>
                  </a:lnTo>
                  <a:cubicBezTo>
                    <a:pt x="18542" y="1308996"/>
                    <a:pt x="0" y="1290454"/>
                    <a:pt x="0" y="1267582"/>
                  </a:cubicBezTo>
                  <a:lnTo>
                    <a:pt x="0" y="41415"/>
                  </a:lnTo>
                  <a:cubicBezTo>
                    <a:pt x="0" y="18542"/>
                    <a:pt x="18542" y="0"/>
                    <a:pt x="41415" y="0"/>
                  </a:cubicBez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510941" cy="1347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269832" y="4456558"/>
            <a:ext cx="8847602" cy="1842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El proyecto es posible y es capaz de avanzar sin problemas en el tiempo predestinado, el proyecto podrá cumplir su propósito y mejorará los tiempos muertos y apoyará en las necesidades del cliente y su micro empresa .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947963" y="1493794"/>
            <a:ext cx="7616517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0"/>
              </a:lnSpc>
            </a:pPr>
            <a:r>
              <a:rPr lang="en-US" sz="6000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CONCLUSIONES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816894"/>
            <a:ext cx="8611039" cy="1215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39"/>
              </a:lnSpc>
            </a:pPr>
            <a:r>
              <a:rPr lang="en-US" sz="8799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REFLEXIÓN 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443963" y="2290286"/>
            <a:ext cx="5400074" cy="1958403"/>
            <a:chOff x="0" y="0"/>
            <a:chExt cx="7200099" cy="261120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14300"/>
              <a:ext cx="7200099" cy="16275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005"/>
                </a:lnSpc>
                <a:spcBef>
                  <a:spcPct val="0"/>
                </a:spcBef>
              </a:pPr>
              <a:r>
                <a:rPr lang="en-US" sz="8576" strike="noStrike" u="none">
                  <a:solidFill>
                    <a:srgbClr val="000000"/>
                  </a:solidFill>
                  <a:latin typeface="Lora"/>
                  <a:ea typeface="Lora"/>
                  <a:cs typeface="Lora"/>
                  <a:sym typeface="Lora"/>
                </a:rPr>
                <a:t>¡GRACIAS!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1973029"/>
              <a:ext cx="7200099" cy="6381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00"/>
                </a:lnSpc>
              </a:pPr>
              <a:r>
                <a:rPr lang="en-US" sz="3000" strike="noStrike" u="none">
                  <a:solidFill>
                    <a:srgbClr val="2B3244"/>
                  </a:solidFill>
                  <a:latin typeface="Canva Sans"/>
                  <a:ea typeface="Canva Sans"/>
                  <a:cs typeface="Canva Sans"/>
                  <a:sym typeface="Canva Sans"/>
                </a:rPr>
                <a:t>¿Tienes alguna pregunta?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-3798849">
            <a:off x="12281888" y="-1445544"/>
            <a:ext cx="5916625" cy="6174846"/>
          </a:xfrm>
          <a:custGeom>
            <a:avLst/>
            <a:gdLst/>
            <a:ahLst/>
            <a:cxnLst/>
            <a:rect r="r" b="b" t="t" l="l"/>
            <a:pathLst>
              <a:path h="6174846" w="5916625">
                <a:moveTo>
                  <a:pt x="5916626" y="0"/>
                </a:moveTo>
                <a:lnTo>
                  <a:pt x="0" y="0"/>
                </a:lnTo>
                <a:lnTo>
                  <a:pt x="0" y="6174847"/>
                </a:lnTo>
                <a:lnTo>
                  <a:pt x="5916626" y="6174847"/>
                </a:lnTo>
                <a:lnTo>
                  <a:pt x="5916626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6901365">
            <a:off x="380124" y="5546335"/>
            <a:ext cx="5916625" cy="6174846"/>
          </a:xfrm>
          <a:custGeom>
            <a:avLst/>
            <a:gdLst/>
            <a:ahLst/>
            <a:cxnLst/>
            <a:rect r="r" b="b" t="t" l="l"/>
            <a:pathLst>
              <a:path h="6174846" w="5916625">
                <a:moveTo>
                  <a:pt x="5916625" y="0"/>
                </a:moveTo>
                <a:lnTo>
                  <a:pt x="0" y="0"/>
                </a:lnTo>
                <a:lnTo>
                  <a:pt x="0" y="6174846"/>
                </a:lnTo>
                <a:lnTo>
                  <a:pt x="5916625" y="6174846"/>
                </a:lnTo>
                <a:lnTo>
                  <a:pt x="5916625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895734">
            <a:off x="15935730" y="2807481"/>
            <a:ext cx="5916625" cy="6174846"/>
          </a:xfrm>
          <a:custGeom>
            <a:avLst/>
            <a:gdLst/>
            <a:ahLst/>
            <a:cxnLst/>
            <a:rect r="r" b="b" t="t" l="l"/>
            <a:pathLst>
              <a:path h="6174846" w="5916625">
                <a:moveTo>
                  <a:pt x="0" y="0"/>
                </a:moveTo>
                <a:lnTo>
                  <a:pt x="5916625" y="0"/>
                </a:lnTo>
                <a:lnTo>
                  <a:pt x="5916625" y="6174846"/>
                </a:lnTo>
                <a:lnTo>
                  <a:pt x="0" y="61748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9804480">
            <a:off x="-3395611" y="1401144"/>
            <a:ext cx="5916625" cy="6174846"/>
          </a:xfrm>
          <a:custGeom>
            <a:avLst/>
            <a:gdLst/>
            <a:ahLst/>
            <a:cxnLst/>
            <a:rect r="r" b="b" t="t" l="l"/>
            <a:pathLst>
              <a:path h="6174846" w="5916625">
                <a:moveTo>
                  <a:pt x="0" y="0"/>
                </a:moveTo>
                <a:lnTo>
                  <a:pt x="5916626" y="0"/>
                </a:lnTo>
                <a:lnTo>
                  <a:pt x="5916626" y="6174847"/>
                </a:lnTo>
                <a:lnTo>
                  <a:pt x="0" y="61748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DAHTVBNILs8</dc:identifier>
  <dcterms:modified xsi:type="dcterms:W3CDTF">2011-08-01T06:04:30Z</dcterms:modified>
  <cp:revision>1</cp:revision>
  <dc:title>Proyecto</dc:title>
</cp:coreProperties>
</file>